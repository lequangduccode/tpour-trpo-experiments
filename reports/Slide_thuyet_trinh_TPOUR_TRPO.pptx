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12–15 phút, cộng 2 phút demo. Giới thiệu rằng đây là báo cáo phân tích phương pháp và bản thực hành PyTorch. Trình bày hai lớp bằng chứng: kết quả giả lập và smoke test Contriever thật. Ngay đầu nói rõ chưa tái lập đầy đủ benchmark của bài báo. Điền tên, lớp và mã sinh viên trước khi thuyết trình.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khoảng 45 giây. Dùng ví dụ tổ chức đã chuyển từ phục vụ ở quầy sang cổng trực tuyến. Cả hai phiên bản đều cùng chủ đề và cùng tên tổ chức, nên dense retrieval có thể thấy chúng gần nhau. Truy vấn hiện tại cần bản phù hợp thời điểm. Đây là ví dụ giả định của demo; không phải dữ kiện về một tổ chức có thật.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45 giây. Giải thích TPOUR là framework, TRPO là objective preference trong framework đó. Query có thể nêu năm hoặc chỉ nói hiện tại. Mô hình được căn chỉnh theo mốc huấn luyện, không tự biết đồng hồ máy. Corpus-level temporal signal không đồng nghĩa hoàn toàn không cần dữ liệu về thời gian. Bản thực hành không triển khai mô hình phân loại timestamp mixture-of-TPOUR.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khoảng một phút. Theo các mũi tên từ bộ ba tới hai encoder. Encoder hiện tại nhận gradient; reference eval/no_grad và cập nhật bằng momentum. Query/current positive được so với queue cũ trong CE; TRPO dùng chênh điểm hai encoder. Sau optimizer, reference cập nhật và keys được ghi vào queue. Sơ đồ tự vẽ theo code và phương pháp, không phải screenshot giao diện hoặc figure sao chép.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một phút. Delta_theta là điểm preferred trừ rejected của current encoder, Delta_ref là hiệu tương ứng của reference. Lấy chênh lệch hai delta, nhân beta và log-sigmoid. Khi current tăng ưu tiên so với reference, loss giảm. Không nhầm TRPO của bài này với Trust Region Policy Optimization. Tại hai gap bằng nhau, loss ln2 nhưng gradient không bằng không. Reference không nhận gradient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45 giây. Đọc công thức loss tổng, chỉ CE khi lambda bằng1. Với lambda0.925, trọng số TRPO là0.075 nhưng ảnh hưởng còn phụ thuộc thang loss và gradient. Temperature mặc định0.05. Momentum lớn khiến reference thay đổi chậm. Queue chứa negative cũ nên tiết kiệm yêu cầu batch đồng thời; queue vẫn có chi phí bộ nhớ và phép nhân. Bản gọn khác code tác giả ở in-batch negatives và temperature 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45 giây. Nêu 40 tổ chức giả định, train tổ chức0–31, test32–39. Mỗi query test có một relevant document: bản mới đúng tổ chức. Dữ liệu mốc và qrels được dựng trong demo; không gọi nó là tái lập unsupervised learning trên Wikipedia. Hash word embedding không phải Contriever. Template chung và digital/online gắn mốc khiến bài toán rất dễ và cần nói rõ trước khi trình bày điểm cao.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40 giây. Ba nhánh là toy chưa train, chỉ CE, CE+TRPO. Hai nhánh train được sao chép từ encoder ban đầu rồi dùng cùng cấu hình tương ứng theo từng seed. Chỉ CE có lambda1. Ba seed42,43,44 là ba tiến trình thật chạy bổ sung. AdamW learning rate0.01 thuộc toy demo, không phải thiết lập fine-tune Contriever. Các chỉ số trên test8query không đủ suy luận thống kê mạnh.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một phút. Biểu đồ lấy từ JSON đầu ra thực tế. Toy chưa train nDCG@5 khoảng0.3028, Recall@5 0.625 và MRR@5 0.2. Chỉ CE và CE+TRPO đều1.0. Vì vậy chỉ có thể nói pipeline học được bài toán giả lập, không thể nói TRPO vượt CE. Đừng nhầm untrained với pretrained Contriever. Demo tạo qrels một positive/query nên Recall ở đây giống hit-rate; trong dataset nhiều positive khái niệm khác nhau.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40 giây. Đọc bảng các lần chạy thật, so untrained với hai nhánh train và deltaTRPO–CE. Nêu rằng khi mọi nhánh train đạt trần trên test nhỏ, nhiều seed vẫn không giúp chứng minh khác biệt. Muốn đo lợi ích phải tăng độ khó và đa dạng corpus/query, chống rò rỉ và dùng test độc lập có temporal qrels. Logs từng seed và hash code có trong reports/evidence.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50 giây. Đồ thị trục log lấy loss từng bước. CE-only vẫn ghi TRPO loss nhưng không tối ưu nó trực tiếp. Không so loss tổng thấp hơn của hai objective khác trọng số như chất lượng tốt hơn. Nêu năm kiểm tra: loss/gradient, reference detach, queue/momentum, metric tính tay, input tác giả. Tests xác nhận những bất biến cụ thể, không chứng minh mọi tình huống hoặc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45 giây. Nói rõ đây là log lịch sử đã chạy trong lượt triển khai trước. Model facebook/contriever với 8 mẫu đầu từ dataset tác giả,2bước,batch2,maxlength64,queue8,lr1e-6. Checkpoint438MB đã lưu và nạp lại. Loss bước2 cao hơn bước1 do batch và queue thay đổi, hai điểm không cho thấy hội tụ. Nạp lại trên synthetic corpus không chứng minh hai bước fine-tune cải thiện vì chưa có baseline pretrained trên cùng tập.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khoảng một phút, hoặc chuyển sang mở viewer trực tiếp. Chỉ query test, corpus2018/2021, hạng đúng và cosine score. Hàng xanh theo qrels, không tô dựa trên model prediction. Ví dụ được chọn là baseline có hạng đúng kém nhất để dễ quan sát, nên mang tính minh họa. Nhắc rằng bảng đối chứng toàn test vẫn không có lợi ích riêngTRPO. Viewer là kết quả tính trước, không huấn luyện trong browser.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40 giây. Ảnh Chrome này hiển thị log lệnh đã chạy lại. Nếu thầy yêu cầu xem bằng chứng, mở reports/evidence/tests.txt, demo_seed_42.txt, summary.json và provenance.json. Các ảnh và biểu đồ được tạo từ file kết quả trong repository. Phân biệt kiểm tra mới ngày 12/10 với log Contriever ngày 10/10. Có thể chạy lại các script tạo bằng chứng và tài liệu.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45 giây. Time vector là theta_t trừ theta_base; phép cộng triệt tiêu base để thành nội suy hai checkpoint. Đây là nội suy trọng số, không phải cộng year embedding. Điều kiện cần là cùng pretrained checkpoint nền. Sau nội suy phải encode corpus lại. Bản gọn chỉ kiểm tra thao tác tensor; nội suy CE-only và TPOUR toy không tương ứng hai năm 2018 và 2021, nên chưa chứng minh tổng quát hóa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một phút. Liệt kê template chung, tín hiệu từ vựng dễ học, corpus nhỏ, chưa BEIR và khác biệt CE với upstream. Phần khác biệt được mô tả trong Word, gồm reference eval, negative queue, temperature, scheduler và queue warmup. Chưa có resume toàn bộ checkpoint, timestamp head hoặc thí nghiệm mốc trung gian. Không khẳng định dễ nhất trong 11 bài vì chưa có phép so sánh đầy đủ. Khi đối chứng không có chênh lệch, cần báo cáo đúng kết quả đó.</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40 giây. Ưu tiên dataset cùng chủ đề nhưng khác phiên bản với nội dung thực và temporal qrels. Tách theo document/entity, loại near-duplicate. So pretrained Contriever, CE-only và TPOUR cùng ngân sách; dùng ít nhất ba seed, thêm khoảng bất định khi test đủ lớn. BEIR đo retrieval tổng quát; temporal QA đo căn chỉnh thời gian. Đánh giá nội suy riêng với checkpoint hai đầu và mốc trung gian. Đo bộ nhớ, train và inference để nhận định chi phí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Dành 40 giây rồi hỏi đáp. Kết luận rõ: đã triển khai và chạy TRPO, reference và queue; có đối chứng và smoke test Contriever. Chưa chứng minh ưu thế retrieval riêng của TRPO. Nếu hỏi vì sao nDCG bằng 1 mà chưa tốt hơn, trả lời CE-only cũng bằng 1 và dataset đã đạt trần. Nếu hỏi hiện tại là năm nào, giải thích mốc căn chỉnh của mô hình khác đồng hồ máy. Nguồn bài báo, code tác giả và output/log đều được dẫn ở repository public.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nguồn có thể để ở cuối phần hỏi đáp. Các số liệu demo đều truy xuất được trong reports/evidence. Bài báo chính là nguồn cho objective và time vector; code tác giả là nguồn đối chiếu triển khai. Contriever, BEIR và DPO có nguồn nghiên cứu gốc riêng. Báo cáo Word chứa thông tin trích dẫn đầy đủ hơn và commit upstream cụ thể.</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TPOUR / TRPO</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Tối ưu ưu tiên thời gian cho hệ thống truy xuất không giám sát</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01</a:t>
            </a:r>
          </a:p>
        </p:txBody>
      </p:sp>
      <p:sp>
        <p:nvSpPr>
          <p:cNvPr id="8" name="TextBox 7"/>
          <p:cNvSpPr txBox="1"/>
          <p:nvPr/>
        </p:nvSpPr>
        <p:spPr>
          <a:xfrm>
            <a:off x="822960" y="2240280"/>
            <a:ext cx="10515600" cy="731520"/>
          </a:xfrm>
          <a:prstGeom prst="rect">
            <a:avLst/>
          </a:prstGeom>
          <a:noFill/>
        </p:spPr>
        <p:txBody>
          <a:bodyPr wrap="square" lIns="0" rIns="0" tIns="0" bIns="0">
            <a:spAutoFit/>
          </a:bodyPr>
          <a:lstStyle/>
          <a:p>
            <a:pPr>
              <a:spcAft>
                <a:spcPts val="1000"/>
              </a:spcAft>
              <a:defRPr sz="2900" b="1">
                <a:solidFill>
                  <a:srgbClr val="3767E8"/>
                </a:solidFill>
                <a:latin typeface="Arial"/>
              </a:defRPr>
            </a:pPr>
            <a:r>
              <a:t>Từ thuật toán → mã chạy được → bằng chứng kiểm tra</a:t>
            </a:r>
          </a:p>
        </p:txBody>
      </p:sp>
      <p:sp>
        <p:nvSpPr>
          <p:cNvPr id="9" name="Rounded Rectangle 8"/>
          <p:cNvSpPr/>
          <p:nvPr/>
        </p:nvSpPr>
        <p:spPr>
          <a:xfrm>
            <a:off x="822960" y="3291840"/>
            <a:ext cx="338328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493008"/>
            <a:ext cx="292608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Phân tích</a:t>
            </a:r>
          </a:p>
        </p:txBody>
      </p:sp>
      <p:sp>
        <p:nvSpPr>
          <p:cNvPr id="11" name="TextBox 10"/>
          <p:cNvSpPr txBox="1"/>
          <p:nvPr/>
        </p:nvSpPr>
        <p:spPr>
          <a:xfrm>
            <a:off x="1051560" y="4133088"/>
            <a:ext cx="2926080" cy="914400"/>
          </a:xfrm>
          <a:prstGeom prst="rect">
            <a:avLst/>
          </a:prstGeom>
          <a:noFill/>
        </p:spPr>
        <p:txBody>
          <a:bodyPr wrap="square" lIns="0" rIns="0" tIns="0" bIns="0">
            <a:spAutoFit/>
          </a:bodyPr>
          <a:lstStyle/>
          <a:p>
            <a:pPr>
              <a:spcAft>
                <a:spcPts val="1000"/>
              </a:spcAft>
              <a:defRPr sz="2000" b="0">
                <a:solidFill>
                  <a:srgbClr val="14243D"/>
                </a:solidFill>
                <a:latin typeface="Arial"/>
              </a:defRPr>
            </a:pPr>
            <a:r>
              <a:t>TRPO • MoCo</a:t>
            </a:r>
          </a:p>
          <a:p>
            <a:pPr>
              <a:spcAft>
                <a:spcPts val="1000"/>
              </a:spcAft>
              <a:defRPr sz="2000" b="0">
                <a:solidFill>
                  <a:srgbClr val="14243D"/>
                </a:solidFill>
                <a:latin typeface="Arial"/>
              </a:defRPr>
            </a:pPr>
            <a:r>
              <a:t>Momentum reference</a:t>
            </a:r>
          </a:p>
        </p:txBody>
      </p:sp>
      <p:sp>
        <p:nvSpPr>
          <p:cNvPr id="12" name="Rounded Rectangle 11"/>
          <p:cNvSpPr/>
          <p:nvPr/>
        </p:nvSpPr>
        <p:spPr>
          <a:xfrm>
            <a:off x="4389120" y="3291840"/>
            <a:ext cx="338328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3493008"/>
            <a:ext cx="292608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Thực hành</a:t>
            </a:r>
          </a:p>
        </p:txBody>
      </p:sp>
      <p:sp>
        <p:nvSpPr>
          <p:cNvPr id="14" name="TextBox 13"/>
          <p:cNvSpPr txBox="1"/>
          <p:nvPr/>
        </p:nvSpPr>
        <p:spPr>
          <a:xfrm>
            <a:off x="4617720" y="4133088"/>
            <a:ext cx="2926080" cy="914400"/>
          </a:xfrm>
          <a:prstGeom prst="rect">
            <a:avLst/>
          </a:prstGeom>
          <a:noFill/>
        </p:spPr>
        <p:txBody>
          <a:bodyPr wrap="square" lIns="0" rIns="0" tIns="0" bIns="0">
            <a:spAutoFit/>
          </a:bodyPr>
          <a:lstStyle/>
          <a:p>
            <a:pPr>
              <a:spcAft>
                <a:spcPts val="1000"/>
              </a:spcAft>
              <a:defRPr sz="2000" b="0">
                <a:solidFill>
                  <a:srgbClr val="14243D"/>
                </a:solidFill>
                <a:latin typeface="Arial"/>
              </a:defRPr>
            </a:pPr>
            <a:r>
              <a:t>PyTorch trên CPU</a:t>
            </a:r>
          </a:p>
          <a:p>
            <a:pPr>
              <a:spcAft>
                <a:spcPts val="1000"/>
              </a:spcAft>
              <a:defRPr sz="2000" b="0">
                <a:solidFill>
                  <a:srgbClr val="14243D"/>
                </a:solidFill>
                <a:latin typeface="Arial"/>
              </a:defRPr>
            </a:pPr>
            <a:r>
              <a:t>Toy + Contriever</a:t>
            </a:r>
          </a:p>
        </p:txBody>
      </p:sp>
      <p:sp>
        <p:nvSpPr>
          <p:cNvPr id="15" name="Rounded Rectangle 14"/>
          <p:cNvSpPr/>
          <p:nvPr/>
        </p:nvSpPr>
        <p:spPr>
          <a:xfrm>
            <a:off x="7955279" y="3291840"/>
            <a:ext cx="338328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3493008"/>
            <a:ext cx="292608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Kiểm chứng</a:t>
            </a:r>
          </a:p>
        </p:txBody>
      </p:sp>
      <p:sp>
        <p:nvSpPr>
          <p:cNvPr id="17" name="TextBox 16"/>
          <p:cNvSpPr txBox="1"/>
          <p:nvPr/>
        </p:nvSpPr>
        <p:spPr>
          <a:xfrm>
            <a:off x="8183879" y="4133088"/>
            <a:ext cx="2926080" cy="914400"/>
          </a:xfrm>
          <a:prstGeom prst="rect">
            <a:avLst/>
          </a:prstGeom>
          <a:noFill/>
        </p:spPr>
        <p:txBody>
          <a:bodyPr wrap="square" lIns="0" rIns="0" tIns="0" bIns="0">
            <a:spAutoFit/>
          </a:bodyPr>
          <a:lstStyle/>
          <a:p>
            <a:pPr>
              <a:spcAft>
                <a:spcPts val="1000"/>
              </a:spcAft>
              <a:defRPr sz="2000" b="0">
                <a:solidFill>
                  <a:srgbClr val="14243D"/>
                </a:solidFill>
                <a:latin typeface="Arial"/>
              </a:defRPr>
            </a:pPr>
            <a:r>
              <a:t>Đối chứng chỉ CE</a:t>
            </a:r>
          </a:p>
          <a:p>
            <a:pPr>
              <a:spcAft>
                <a:spcPts val="1000"/>
              </a:spcAft>
              <a:defRPr sz="2000" b="0">
                <a:solidFill>
                  <a:srgbClr val="14243D"/>
                </a:solidFill>
                <a:latin typeface="Arial"/>
              </a:defRPr>
            </a:pPr>
            <a:r>
              <a:t>Ảnh demo &amp; log thật</a:t>
            </a:r>
          </a:p>
        </p:txBody>
      </p:sp>
      <p:sp>
        <p:nvSpPr>
          <p:cNvPr id="18" name="TextBox 17"/>
          <p:cNvSpPr txBox="1"/>
          <p:nvPr/>
        </p:nvSpPr>
        <p:spPr>
          <a:xfrm>
            <a:off x="822960" y="5806440"/>
            <a:ext cx="10515600" cy="320040"/>
          </a:xfrm>
          <a:prstGeom prst="rect">
            <a:avLst/>
          </a:prstGeom>
          <a:noFill/>
        </p:spPr>
        <p:txBody>
          <a:bodyPr wrap="square" lIns="0" rIns="0" tIns="0" bIns="0">
            <a:spAutoFit/>
          </a:bodyPr>
          <a:lstStyle/>
          <a:p>
            <a:pPr>
              <a:spcAft>
                <a:spcPts val="1000"/>
              </a:spcAft>
              <a:defRPr sz="1700" b="0">
                <a:solidFill>
                  <a:srgbClr val="63748A"/>
                </a:solidFill>
                <a:latin typeface="Arial"/>
              </a:defRPr>
            </a:pPr>
            <a:r>
              <a:t>Người trình bày: ........................................   |   Lớp: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01 / Đúng chủ đề vẫn có thể sai thời điểm</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Temporal alignment là một phần của độ liên quan [1]</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02</a:t>
            </a:r>
          </a:p>
        </p:txBody>
      </p:sp>
      <p:sp>
        <p:nvSpPr>
          <p:cNvPr id="8" name="Rounded Rectangle 7"/>
          <p:cNvSpPr/>
          <p:nvPr/>
        </p:nvSpPr>
        <p:spPr>
          <a:xfrm>
            <a:off x="822960" y="2148840"/>
            <a:ext cx="10515600" cy="1737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50008"/>
            <a:ext cx="1005840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Truy vấn</a:t>
            </a:r>
          </a:p>
        </p:txBody>
      </p:sp>
      <p:sp>
        <p:nvSpPr>
          <p:cNvPr id="10" name="TextBox 9"/>
          <p:cNvSpPr txBox="1"/>
          <p:nvPr/>
        </p:nvSpPr>
        <p:spPr>
          <a:xfrm>
            <a:off x="1051560" y="2990088"/>
            <a:ext cx="10058400" cy="822959"/>
          </a:xfrm>
          <a:prstGeom prst="rect">
            <a:avLst/>
          </a:prstGeom>
          <a:noFill/>
        </p:spPr>
        <p:txBody>
          <a:bodyPr wrap="square" lIns="0" rIns="0" tIns="0" bIns="0">
            <a:spAutoFit/>
          </a:bodyPr>
          <a:lstStyle/>
          <a:p>
            <a:pPr>
              <a:spcAft>
                <a:spcPts val="1000"/>
              </a:spcAft>
              <a:defRPr sz="2000" b="0">
                <a:solidFill>
                  <a:srgbClr val="14243D"/>
                </a:solidFill>
                <a:latin typeface="Arial"/>
              </a:defRPr>
            </a:pPr>
            <a:r>
              <a:t>How does Organization32</a:t>
            </a:r>
          </a:p>
          <a:p>
            <a:pPr>
              <a:spcAft>
                <a:spcPts val="1000"/>
              </a:spcAft>
              <a:defRPr sz="2000" b="0">
                <a:solidFill>
                  <a:srgbClr val="14243D"/>
                </a:solidFill>
                <a:latin typeface="Arial"/>
              </a:defRPr>
            </a:pPr>
            <a:r>
              <a:t>currently provide its service?</a:t>
            </a:r>
          </a:p>
        </p:txBody>
      </p:sp>
      <p:sp>
        <p:nvSpPr>
          <p:cNvPr id="11" name="Rounded Rectangle 10"/>
          <p:cNvSpPr/>
          <p:nvPr/>
        </p:nvSpPr>
        <p:spPr>
          <a:xfrm>
            <a:off x="822960" y="4069080"/>
            <a:ext cx="502920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270248"/>
            <a:ext cx="4572000" cy="502920"/>
          </a:xfrm>
          <a:prstGeom prst="rect">
            <a:avLst/>
          </a:prstGeom>
          <a:noFill/>
        </p:spPr>
        <p:txBody>
          <a:bodyPr wrap="square" lIns="0" rIns="0" tIns="0" bIns="0">
            <a:spAutoFit/>
          </a:bodyPr>
          <a:lstStyle/>
          <a:p>
            <a:pPr>
              <a:spcAft>
                <a:spcPts val="1000"/>
              </a:spcAft>
              <a:defRPr sz="2100" b="1">
                <a:solidFill>
                  <a:srgbClr val="63748A"/>
                </a:solidFill>
                <a:latin typeface="Arial"/>
              </a:defRPr>
            </a:pPr>
            <a:r>
              <a:t>2018 / Lệch mốc</a:t>
            </a:r>
          </a:p>
        </p:txBody>
      </p:sp>
      <p:sp>
        <p:nvSpPr>
          <p:cNvPr id="13" name="TextBox 12"/>
          <p:cNvSpPr txBox="1"/>
          <p:nvPr/>
        </p:nvSpPr>
        <p:spPr>
          <a:xfrm>
            <a:off x="1051560" y="4910328"/>
            <a:ext cx="4572000" cy="868680"/>
          </a:xfrm>
          <a:prstGeom prst="rect">
            <a:avLst/>
          </a:prstGeom>
          <a:noFill/>
        </p:spPr>
        <p:txBody>
          <a:bodyPr wrap="square" lIns="0" rIns="0" tIns="0" bIns="0">
            <a:spAutoFit/>
          </a:bodyPr>
          <a:lstStyle/>
          <a:p>
            <a:pPr>
              <a:spcAft>
                <a:spcPts val="1000"/>
              </a:spcAft>
              <a:defRPr sz="2000" b="0">
                <a:solidFill>
                  <a:srgbClr val="14243D"/>
                </a:solidFill>
                <a:latin typeface="Arial"/>
              </a:defRPr>
            </a:pPr>
            <a:r>
              <a:t>Paper forms</a:t>
            </a:r>
          </a:p>
          <a:p>
            <a:pPr>
              <a:spcAft>
                <a:spcPts val="1000"/>
              </a:spcAft>
              <a:defRPr sz="2000" b="0">
                <a:solidFill>
                  <a:srgbClr val="14243D"/>
                </a:solidFill>
                <a:latin typeface="Arial"/>
              </a:defRPr>
            </a:pPr>
            <a:r>
              <a:t>Office desk service</a:t>
            </a:r>
          </a:p>
        </p:txBody>
      </p:sp>
      <p:sp>
        <p:nvSpPr>
          <p:cNvPr id="14" name="Rounded Rectangle 13"/>
          <p:cNvSpPr/>
          <p:nvPr/>
        </p:nvSpPr>
        <p:spPr>
          <a:xfrm>
            <a:off x="6126480" y="4069080"/>
            <a:ext cx="5212080" cy="1783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270248"/>
            <a:ext cx="4754880" cy="502920"/>
          </a:xfrm>
          <a:prstGeom prst="rect">
            <a:avLst/>
          </a:prstGeom>
          <a:noFill/>
        </p:spPr>
        <p:txBody>
          <a:bodyPr wrap="square" lIns="0" rIns="0" tIns="0" bIns="0">
            <a:spAutoFit/>
          </a:bodyPr>
          <a:lstStyle/>
          <a:p>
            <a:pPr>
              <a:spcAft>
                <a:spcPts val="1000"/>
              </a:spcAft>
              <a:defRPr sz="2100" b="1">
                <a:solidFill>
                  <a:srgbClr val="159987"/>
                </a:solidFill>
                <a:latin typeface="Arial"/>
              </a:defRPr>
            </a:pPr>
            <a:r>
              <a:t>2021 / Đúng mốc đích</a:t>
            </a:r>
          </a:p>
        </p:txBody>
      </p:sp>
      <p:sp>
        <p:nvSpPr>
          <p:cNvPr id="16" name="TextBox 15"/>
          <p:cNvSpPr txBox="1"/>
          <p:nvPr/>
        </p:nvSpPr>
        <p:spPr>
          <a:xfrm>
            <a:off x="6355080" y="4910328"/>
            <a:ext cx="4754880" cy="868680"/>
          </a:xfrm>
          <a:prstGeom prst="rect">
            <a:avLst/>
          </a:prstGeom>
          <a:noFill/>
        </p:spPr>
        <p:txBody>
          <a:bodyPr wrap="square" lIns="0" rIns="0" tIns="0" bIns="0">
            <a:spAutoFit/>
          </a:bodyPr>
          <a:lstStyle/>
          <a:p>
            <a:pPr>
              <a:spcAft>
                <a:spcPts val="1000"/>
              </a:spcAft>
              <a:defRPr sz="2000" b="0">
                <a:solidFill>
                  <a:srgbClr val="14243D"/>
                </a:solidFill>
                <a:latin typeface="Arial"/>
              </a:defRPr>
            </a:pPr>
            <a:r>
              <a:t>Digital portal</a:t>
            </a:r>
          </a:p>
          <a:p>
            <a:pPr>
              <a:spcAft>
                <a:spcPts val="1000"/>
              </a:spcAft>
              <a:defRPr sz="2000" b="0">
                <a:solidFill>
                  <a:srgbClr val="14243D"/>
                </a:solidFill>
                <a:latin typeface="Arial"/>
              </a:defRPr>
            </a:pPr>
            <a:r>
              <a:t>Online mobile service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02 / TPOUR thêm tín hiệu ưu tiên vào retrieval</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Cốt lõi: học ngữ nghĩa + ưu tiên corpus đúng mốc [1, 2]</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03</a:t>
            </a:r>
          </a:p>
        </p:txBody>
      </p:sp>
      <p:sp>
        <p:nvSpPr>
          <p:cNvPr id="8" name="Rectangle 7"/>
          <p:cNvSpPr/>
          <p:nvPr/>
        </p:nvSpPr>
        <p:spPr>
          <a:xfrm>
            <a:off x="822960" y="230428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241280" cy="713232"/>
          </a:xfrm>
          <a:prstGeom prst="rect">
            <a:avLst/>
          </a:prstGeom>
          <a:noFill/>
        </p:spPr>
        <p:txBody>
          <a:bodyPr wrap="square" lIns="0" rIns="0" tIns="0" bIns="0">
            <a:spAutoFit/>
          </a:bodyPr>
          <a:lstStyle/>
          <a:p>
            <a:pPr>
              <a:spcAft>
                <a:spcPts val="1000"/>
              </a:spcAft>
              <a:defRPr sz="2500" b="0">
                <a:solidFill>
                  <a:srgbClr val="14243D"/>
                </a:solidFill>
                <a:latin typeface="Arial"/>
              </a:defRPr>
            </a:pPr>
            <a:r>
              <a:t>Contrastive loss: giữ độ liên quan ngữ nghĩa</a:t>
            </a:r>
          </a:p>
        </p:txBody>
      </p:sp>
      <p:sp>
        <p:nvSpPr>
          <p:cNvPr id="10" name="Rectangle 9"/>
          <p:cNvSpPr/>
          <p:nvPr/>
        </p:nvSpPr>
        <p:spPr>
          <a:xfrm>
            <a:off x="822960" y="312724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017520"/>
            <a:ext cx="10241280" cy="713232"/>
          </a:xfrm>
          <a:prstGeom prst="rect">
            <a:avLst/>
          </a:prstGeom>
          <a:noFill/>
        </p:spPr>
        <p:txBody>
          <a:bodyPr wrap="square" lIns="0" rIns="0" tIns="0" bIns="0">
            <a:spAutoFit/>
          </a:bodyPr>
          <a:lstStyle/>
          <a:p>
            <a:pPr>
              <a:spcAft>
                <a:spcPts val="1000"/>
              </a:spcAft>
              <a:defRPr sz="2500" b="0">
                <a:solidFill>
                  <a:srgbClr val="14243D"/>
                </a:solidFill>
                <a:latin typeface="Arial"/>
              </a:defRPr>
            </a:pPr>
            <a:r>
              <a:t>TRPO: ưu tiên đúng mốc hơn lệch mốc</a:t>
            </a:r>
          </a:p>
        </p:txBody>
      </p:sp>
      <p:sp>
        <p:nvSpPr>
          <p:cNvPr id="12" name="Rectangle 11"/>
          <p:cNvSpPr/>
          <p:nvPr/>
        </p:nvSpPr>
        <p:spPr>
          <a:xfrm>
            <a:off x="822960" y="395020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840480"/>
            <a:ext cx="10241280" cy="713232"/>
          </a:xfrm>
          <a:prstGeom prst="rect">
            <a:avLst/>
          </a:prstGeom>
          <a:noFill/>
        </p:spPr>
        <p:txBody>
          <a:bodyPr wrap="square" lIns="0" rIns="0" tIns="0" bIns="0">
            <a:spAutoFit/>
          </a:bodyPr>
          <a:lstStyle/>
          <a:p>
            <a:pPr>
              <a:spcAft>
                <a:spcPts val="1000"/>
              </a:spcAft>
              <a:defRPr sz="2500" b="0">
                <a:solidFill>
                  <a:srgbClr val="14243D"/>
                </a:solidFill>
                <a:latin typeface="Arial"/>
              </a:defRPr>
            </a:pPr>
            <a:r>
              <a:t>Reference cập nhật momentum + queue negative</a:t>
            </a:r>
          </a:p>
        </p:txBody>
      </p:sp>
      <p:sp>
        <p:nvSpPr>
          <p:cNvPr id="14" name="Rectangle 13"/>
          <p:cNvSpPr/>
          <p:nvPr/>
        </p:nvSpPr>
        <p:spPr>
          <a:xfrm>
            <a:off x="822960" y="477316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10241280" cy="713232"/>
          </a:xfrm>
          <a:prstGeom prst="rect">
            <a:avLst/>
          </a:prstGeom>
          <a:noFill/>
        </p:spPr>
        <p:txBody>
          <a:bodyPr wrap="square" lIns="0" rIns="0" tIns="0" bIns="0">
            <a:spAutoFit/>
          </a:bodyPr>
          <a:lstStyle/>
          <a:p>
            <a:pPr>
              <a:spcAft>
                <a:spcPts val="1000"/>
              </a:spcAft>
              <a:defRPr sz="2500" b="0">
                <a:solidFill>
                  <a:srgbClr val="14243D"/>
                </a:solidFill>
                <a:latin typeface="Arial"/>
              </a:defRPr>
            </a:pPr>
            <a:r>
              <a:t>Không cần reward model riêng; vẫn cần cặp thời gian tốt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03 / Hai encoder, một hàng đợi</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Luồng bản thực hành: optimizer → momentum update → enqueue</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04</a:t>
            </a:r>
          </a:p>
        </p:txBody>
      </p:sp>
      <p:pic>
        <p:nvPicPr>
          <p:cNvPr id="8" name="Picture 7" descr="architecture.png"/>
          <p:cNvPicPr>
            <a:picLocks noChangeAspect="1"/>
          </p:cNvPicPr>
          <p:nvPr/>
        </p:nvPicPr>
        <p:blipFill>
          <a:blip r:embed="rId3"/>
          <a:stretch>
            <a:fillRect/>
          </a:stretch>
        </p:blipFill>
        <p:spPr>
          <a:xfrm>
            <a:off x="1788620" y="2011680"/>
            <a:ext cx="8675719" cy="397763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04 / TRPO so sánh chênh lệch với reference</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TRPO = Temporal Retrieval Preference Optimization [1]</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05</a:t>
            </a:r>
          </a:p>
        </p:txBody>
      </p:sp>
      <p:sp>
        <p:nvSpPr>
          <p:cNvPr id="8" name="Rounded Rectangle 7"/>
          <p:cNvSpPr/>
          <p:nvPr/>
        </p:nvSpPr>
        <p:spPr>
          <a:xfrm>
            <a:off x="822960" y="2103120"/>
            <a:ext cx="1051560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04288"/>
            <a:ext cx="1005840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Chênh lệch ưu tiên</a:t>
            </a:r>
          </a:p>
        </p:txBody>
      </p:sp>
      <p:sp>
        <p:nvSpPr>
          <p:cNvPr id="10" name="TextBox 9"/>
          <p:cNvSpPr txBox="1"/>
          <p:nvPr/>
        </p:nvSpPr>
        <p:spPr>
          <a:xfrm>
            <a:off x="1051560" y="2944368"/>
            <a:ext cx="10058400" cy="731520"/>
          </a:xfrm>
          <a:prstGeom prst="rect">
            <a:avLst/>
          </a:prstGeom>
          <a:noFill/>
        </p:spPr>
        <p:txBody>
          <a:bodyPr wrap="square" lIns="0" rIns="0" tIns="0" bIns="0">
            <a:spAutoFit/>
          </a:bodyPr>
          <a:lstStyle/>
          <a:p>
            <a:pPr>
              <a:spcAft>
                <a:spcPts val="1000"/>
              </a:spcAft>
              <a:defRPr sz="2000" b="0">
                <a:solidFill>
                  <a:srgbClr val="14243D"/>
                </a:solidFill>
                <a:latin typeface="Arial"/>
              </a:defRPr>
            </a:pPr>
            <a:r>
              <a:t>Δθ = Sθ(Q,Dđúng) − Sθ(Q,Dlệch)</a:t>
            </a:r>
          </a:p>
          <a:p>
            <a:pPr>
              <a:spcAft>
                <a:spcPts val="1000"/>
              </a:spcAft>
              <a:defRPr sz="2000" b="0">
                <a:solidFill>
                  <a:srgbClr val="14243D"/>
                </a:solidFill>
                <a:latin typeface="Arial"/>
              </a:defRPr>
            </a:pPr>
            <a:r>
              <a:t>Δref = Sref(Q,Dđúng) − Sref(Q,Dlệch)</a:t>
            </a:r>
          </a:p>
        </p:txBody>
      </p:sp>
      <p:sp>
        <p:nvSpPr>
          <p:cNvPr id="11" name="Rounded Rectangle 10"/>
          <p:cNvSpPr/>
          <p:nvPr/>
        </p:nvSpPr>
        <p:spPr>
          <a:xfrm>
            <a:off x="822960" y="4023360"/>
            <a:ext cx="10515600" cy="1051560"/>
          </a:xfrm>
          <a:prstGeom prst="roundRect">
            <a:avLst/>
          </a:prstGeom>
          <a:solidFill>
            <a:srgbClr val="14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325112"/>
            <a:ext cx="9966960" cy="502920"/>
          </a:xfrm>
          <a:prstGeom prst="rect">
            <a:avLst/>
          </a:prstGeom>
          <a:noFill/>
        </p:spPr>
        <p:txBody>
          <a:bodyPr wrap="square" lIns="0" rIns="0" tIns="0" bIns="0">
            <a:spAutoFit/>
          </a:bodyPr>
          <a:lstStyle/>
          <a:p>
            <a:pPr>
              <a:spcAft>
                <a:spcPts val="1000"/>
              </a:spcAft>
              <a:defRPr sz="2800" b="1">
                <a:solidFill>
                  <a:srgbClr val="FFFFFF"/>
                </a:solidFill>
                <a:latin typeface="Arial"/>
              </a:defRPr>
            </a:pPr>
            <a:r>
              <a:t>L_TRPO = − mean[log σ(β · (Δθ − Δref))]</a:t>
            </a:r>
          </a:p>
        </p:txBody>
      </p:sp>
      <p:sp>
        <p:nvSpPr>
          <p:cNvPr id="13" name="TextBox 12"/>
          <p:cNvSpPr txBox="1"/>
          <p:nvPr/>
        </p:nvSpPr>
        <p:spPr>
          <a:xfrm>
            <a:off x="914400" y="5440680"/>
            <a:ext cx="10058400" cy="457200"/>
          </a:xfrm>
          <a:prstGeom prst="rect">
            <a:avLst/>
          </a:prstGeom>
          <a:noFill/>
        </p:spPr>
        <p:txBody>
          <a:bodyPr wrap="square" lIns="0" rIns="0" tIns="0" bIns="0">
            <a:spAutoFit/>
          </a:bodyPr>
          <a:lstStyle/>
          <a:p>
            <a:pPr>
              <a:spcAft>
                <a:spcPts val="1000"/>
              </a:spcAft>
              <a:defRPr sz="2000" b="0">
                <a:solidFill>
                  <a:srgbClr val="63748A"/>
                </a:solidFill>
                <a:latin typeface="Arial"/>
              </a:defRPr>
            </a:pPr>
            <a:r>
              <a:t>Dùng log-sigmoid ổn định số • Reference detach • β = 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05 / Loss tổng và cơ chế MoCo</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Tham số λ cân bằng hai objective; không là tỷ lệ mẫu</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06</a:t>
            </a:r>
          </a:p>
        </p:txBody>
      </p:sp>
      <p:sp>
        <p:nvSpPr>
          <p:cNvPr id="8" name="Rounded Rectangle 7"/>
          <p:cNvSpPr/>
          <p:nvPr/>
        </p:nvSpPr>
        <p:spPr>
          <a:xfrm>
            <a:off x="822960" y="2240280"/>
            <a:ext cx="1051560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41448"/>
            <a:ext cx="1005840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Loss tổng</a:t>
            </a:r>
          </a:p>
        </p:txBody>
      </p:sp>
      <p:sp>
        <p:nvSpPr>
          <p:cNvPr id="10" name="TextBox 9"/>
          <p:cNvSpPr txBox="1"/>
          <p:nvPr/>
        </p:nvSpPr>
        <p:spPr>
          <a:xfrm>
            <a:off x="1051560" y="3081528"/>
            <a:ext cx="10058400" cy="731520"/>
          </a:xfrm>
          <a:prstGeom prst="rect">
            <a:avLst/>
          </a:prstGeom>
          <a:noFill/>
        </p:spPr>
        <p:txBody>
          <a:bodyPr wrap="square" lIns="0" rIns="0" tIns="0" bIns="0">
            <a:spAutoFit/>
          </a:bodyPr>
          <a:lstStyle/>
          <a:p>
            <a:pPr>
              <a:spcAft>
                <a:spcPts val="1000"/>
              </a:spcAft>
              <a:defRPr sz="2000" b="0">
                <a:solidFill>
                  <a:srgbClr val="14243D"/>
                </a:solidFill>
                <a:latin typeface="Arial"/>
              </a:defRPr>
            </a:pPr>
            <a:r>
              <a:t>L = λ · LCE + (1 − λ) · LTRPO</a:t>
            </a:r>
          </a:p>
          <a:p>
            <a:pPr>
              <a:spcAft>
                <a:spcPts val="1000"/>
              </a:spcAft>
              <a:defRPr sz="2000" b="0">
                <a:solidFill>
                  <a:srgbClr val="14243D"/>
                </a:solidFill>
                <a:latin typeface="Arial"/>
              </a:defRPr>
            </a:pPr>
            <a:r>
              <a:t>λ = 0,925   |   T = 0,05</a:t>
            </a:r>
          </a:p>
        </p:txBody>
      </p:sp>
      <p:sp>
        <p:nvSpPr>
          <p:cNvPr id="11" name="Rounded Rectangle 10"/>
          <p:cNvSpPr/>
          <p:nvPr/>
        </p:nvSpPr>
        <p:spPr>
          <a:xfrm>
            <a:off x="822960" y="4114800"/>
            <a:ext cx="502920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315968"/>
            <a:ext cx="4572000" cy="502920"/>
          </a:xfrm>
          <a:prstGeom prst="rect">
            <a:avLst/>
          </a:prstGeom>
          <a:noFill/>
        </p:spPr>
        <p:txBody>
          <a:bodyPr wrap="square" lIns="0" rIns="0" tIns="0" bIns="0">
            <a:spAutoFit/>
          </a:bodyPr>
          <a:lstStyle/>
          <a:p>
            <a:pPr>
              <a:spcAft>
                <a:spcPts val="1000"/>
              </a:spcAft>
              <a:defRPr sz="2100" b="1">
                <a:solidFill>
                  <a:srgbClr val="159987"/>
                </a:solidFill>
                <a:latin typeface="Arial"/>
              </a:defRPr>
            </a:pPr>
            <a:r>
              <a:t>Reference</a:t>
            </a:r>
          </a:p>
        </p:txBody>
      </p:sp>
      <p:sp>
        <p:nvSpPr>
          <p:cNvPr id="13" name="TextBox 12"/>
          <p:cNvSpPr txBox="1"/>
          <p:nvPr/>
        </p:nvSpPr>
        <p:spPr>
          <a:xfrm>
            <a:off x="1051560" y="4956048"/>
            <a:ext cx="4572000" cy="731520"/>
          </a:xfrm>
          <a:prstGeom prst="rect">
            <a:avLst/>
          </a:prstGeom>
          <a:noFill/>
        </p:spPr>
        <p:txBody>
          <a:bodyPr wrap="square" lIns="0" rIns="0" tIns="0" bIns="0">
            <a:spAutoFit/>
          </a:bodyPr>
          <a:lstStyle/>
          <a:p>
            <a:pPr>
              <a:spcAft>
                <a:spcPts val="1000"/>
              </a:spcAft>
              <a:defRPr sz="2000" b="0">
                <a:solidFill>
                  <a:srgbClr val="14243D"/>
                </a:solidFill>
                <a:latin typeface="Arial"/>
              </a:defRPr>
            </a:pPr>
            <a:r>
              <a:t>θref ← m · θref + (1 − m) · θ</a:t>
            </a:r>
          </a:p>
          <a:p>
            <a:pPr>
              <a:spcAft>
                <a:spcPts val="1000"/>
              </a:spcAft>
              <a:defRPr sz="2000" b="0">
                <a:solidFill>
                  <a:srgbClr val="14243D"/>
                </a:solidFill>
                <a:latin typeface="Arial"/>
              </a:defRPr>
            </a:pPr>
            <a:r>
              <a:t>m = 0,9999</a:t>
            </a:r>
          </a:p>
        </p:txBody>
      </p:sp>
      <p:sp>
        <p:nvSpPr>
          <p:cNvPr id="14" name="Rounded Rectangle 13"/>
          <p:cNvSpPr/>
          <p:nvPr/>
        </p:nvSpPr>
        <p:spPr>
          <a:xfrm>
            <a:off x="6126480" y="4114800"/>
            <a:ext cx="521208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315968"/>
            <a:ext cx="475488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Queue</a:t>
            </a:r>
          </a:p>
        </p:txBody>
      </p:sp>
      <p:sp>
        <p:nvSpPr>
          <p:cNvPr id="16" name="TextBox 15"/>
          <p:cNvSpPr txBox="1"/>
          <p:nvPr/>
        </p:nvSpPr>
        <p:spPr>
          <a:xfrm>
            <a:off x="6355080" y="4956048"/>
            <a:ext cx="4754880" cy="731520"/>
          </a:xfrm>
          <a:prstGeom prst="rect">
            <a:avLst/>
          </a:prstGeom>
          <a:noFill/>
        </p:spPr>
        <p:txBody>
          <a:bodyPr wrap="square" lIns="0" rIns="0" tIns="0" bIns="0">
            <a:spAutoFit/>
          </a:bodyPr>
          <a:lstStyle/>
          <a:p>
            <a:pPr>
              <a:spcAft>
                <a:spcPts val="1000"/>
              </a:spcAft>
              <a:defRPr sz="2000" b="0">
                <a:solidFill>
                  <a:srgbClr val="14243D"/>
                </a:solidFill>
                <a:latin typeface="Arial"/>
              </a:defRPr>
            </a:pPr>
            <a:r>
              <a:t>Lưu embeddings tài liệu reference</a:t>
            </a:r>
          </a:p>
          <a:p>
            <a:pPr>
              <a:spcAft>
                <a:spcPts val="1000"/>
              </a:spcAft>
              <a:defRPr sz="2000" b="0">
                <a:solidFill>
                  <a:srgbClr val="14243D"/>
                </a:solidFill>
                <a:latin typeface="Arial"/>
              </a:defRPr>
            </a:pPr>
            <a:r>
              <a:t>Cho negative ở các batch sau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06 / Dữ liệu nhỏ để kiểm tra luồng chạy</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Tách thực thể train/test; template vẫn giống nhau</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07</a:t>
            </a:r>
          </a:p>
        </p:txBody>
      </p:sp>
      <p:sp>
        <p:nvSpPr>
          <p:cNvPr id="8" name="Rounded Rectangle 7"/>
          <p:cNvSpPr/>
          <p:nvPr/>
        </p:nvSpPr>
        <p:spPr>
          <a:xfrm>
            <a:off x="822960" y="2194560"/>
            <a:ext cx="33375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95728"/>
            <a:ext cx="288036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Train</a:t>
            </a:r>
          </a:p>
        </p:txBody>
      </p:sp>
      <p:sp>
        <p:nvSpPr>
          <p:cNvPr id="10" name="TextBox 9"/>
          <p:cNvSpPr txBox="1"/>
          <p:nvPr/>
        </p:nvSpPr>
        <p:spPr>
          <a:xfrm>
            <a:off x="1051560" y="3035808"/>
            <a:ext cx="2880360" cy="914400"/>
          </a:xfrm>
          <a:prstGeom prst="rect">
            <a:avLst/>
          </a:prstGeom>
          <a:noFill/>
        </p:spPr>
        <p:txBody>
          <a:bodyPr wrap="square" lIns="0" rIns="0" tIns="0" bIns="0">
            <a:spAutoFit/>
          </a:bodyPr>
          <a:lstStyle/>
          <a:p>
            <a:pPr>
              <a:spcAft>
                <a:spcPts val="1000"/>
              </a:spcAft>
              <a:defRPr sz="2000" b="0">
                <a:solidFill>
                  <a:srgbClr val="14243D"/>
                </a:solidFill>
                <a:latin typeface="Arial"/>
              </a:defRPr>
            </a:pPr>
            <a:r>
              <a:t>32 bộ ba</a:t>
            </a:r>
          </a:p>
          <a:p>
            <a:pPr>
              <a:spcAft>
                <a:spcPts val="1000"/>
              </a:spcAft>
              <a:defRPr sz="2000" b="0">
                <a:solidFill>
                  <a:srgbClr val="14243D"/>
                </a:solidFill>
                <a:latin typeface="Arial"/>
              </a:defRPr>
            </a:pPr>
            <a:r>
              <a:t>Q + D2021 + D2018</a:t>
            </a:r>
          </a:p>
        </p:txBody>
      </p:sp>
      <p:sp>
        <p:nvSpPr>
          <p:cNvPr id="11" name="Rounded Rectangle 10"/>
          <p:cNvSpPr/>
          <p:nvPr/>
        </p:nvSpPr>
        <p:spPr>
          <a:xfrm>
            <a:off x="4389120" y="2194560"/>
            <a:ext cx="33375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395728"/>
            <a:ext cx="288036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Test</a:t>
            </a:r>
          </a:p>
        </p:txBody>
      </p:sp>
      <p:sp>
        <p:nvSpPr>
          <p:cNvPr id="13" name="TextBox 12"/>
          <p:cNvSpPr txBox="1"/>
          <p:nvPr/>
        </p:nvSpPr>
        <p:spPr>
          <a:xfrm>
            <a:off x="4617720" y="3035808"/>
            <a:ext cx="2880360" cy="914400"/>
          </a:xfrm>
          <a:prstGeom prst="rect">
            <a:avLst/>
          </a:prstGeom>
          <a:noFill/>
        </p:spPr>
        <p:txBody>
          <a:bodyPr wrap="square" lIns="0" rIns="0" tIns="0" bIns="0">
            <a:spAutoFit/>
          </a:bodyPr>
          <a:lstStyle/>
          <a:p>
            <a:pPr>
              <a:spcAft>
                <a:spcPts val="1000"/>
              </a:spcAft>
              <a:defRPr sz="2000" b="0">
                <a:solidFill>
                  <a:srgbClr val="14243D"/>
                </a:solidFill>
                <a:latin typeface="Arial"/>
              </a:defRPr>
            </a:pPr>
            <a:r>
              <a:t>8 query • 16 documents</a:t>
            </a:r>
          </a:p>
          <a:p>
            <a:pPr>
              <a:spcAft>
                <a:spcPts val="1000"/>
              </a:spcAft>
              <a:defRPr sz="2000" b="0">
                <a:solidFill>
                  <a:srgbClr val="14243D"/>
                </a:solidFill>
                <a:latin typeface="Arial"/>
              </a:defRPr>
            </a:pPr>
            <a:r>
              <a:t>1 positive / query</a:t>
            </a:r>
          </a:p>
        </p:txBody>
      </p:sp>
      <p:sp>
        <p:nvSpPr>
          <p:cNvPr id="14" name="Rounded Rectangle 13"/>
          <p:cNvSpPr/>
          <p:nvPr/>
        </p:nvSpPr>
        <p:spPr>
          <a:xfrm>
            <a:off x="7955279" y="2194560"/>
            <a:ext cx="338328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2395728"/>
            <a:ext cx="292608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Toy encoder</a:t>
            </a:r>
          </a:p>
        </p:txBody>
      </p:sp>
      <p:sp>
        <p:nvSpPr>
          <p:cNvPr id="16" name="TextBox 15"/>
          <p:cNvSpPr txBox="1"/>
          <p:nvPr/>
        </p:nvSpPr>
        <p:spPr>
          <a:xfrm>
            <a:off x="8183879" y="3035808"/>
            <a:ext cx="2926080" cy="914400"/>
          </a:xfrm>
          <a:prstGeom prst="rect">
            <a:avLst/>
          </a:prstGeom>
          <a:noFill/>
        </p:spPr>
        <p:txBody>
          <a:bodyPr wrap="square" lIns="0" rIns="0" tIns="0" bIns="0">
            <a:spAutoFit/>
          </a:bodyPr>
          <a:lstStyle/>
          <a:p>
            <a:pPr>
              <a:spcAft>
                <a:spcPts val="1000"/>
              </a:spcAft>
              <a:defRPr sz="2000" b="0">
                <a:solidFill>
                  <a:srgbClr val="14243D"/>
                </a:solidFill>
                <a:latin typeface="Arial"/>
              </a:defRPr>
            </a:pPr>
            <a:r>
              <a:t>4096 × 64 embedding</a:t>
            </a:r>
          </a:p>
          <a:p>
            <a:pPr>
              <a:spcAft>
                <a:spcPts val="1000"/>
              </a:spcAft>
              <a:defRPr sz="2000" b="0">
                <a:solidFill>
                  <a:srgbClr val="14243D"/>
                </a:solidFill>
                <a:latin typeface="Arial"/>
              </a:defRPr>
            </a:pPr>
            <a:r>
              <a:t>Mean pool + L2</a:t>
            </a:r>
          </a:p>
        </p:txBody>
      </p:sp>
      <p:sp>
        <p:nvSpPr>
          <p:cNvPr id="17" name="TextBox 16"/>
          <p:cNvSpPr txBox="1"/>
          <p:nvPr/>
        </p:nvSpPr>
        <p:spPr>
          <a:xfrm>
            <a:off x="914400" y="4526280"/>
            <a:ext cx="10332720" cy="1097280"/>
          </a:xfrm>
          <a:prstGeom prst="rect">
            <a:avLst/>
          </a:prstGeom>
          <a:noFill/>
        </p:spPr>
        <p:txBody>
          <a:bodyPr wrap="square" lIns="0" rIns="0" tIns="0" bIns="0">
            <a:spAutoFit/>
          </a:bodyPr>
          <a:lstStyle/>
          <a:p>
            <a:pPr>
              <a:spcAft>
                <a:spcPts val="1000"/>
              </a:spcAft>
              <a:defRPr sz="2600" b="1">
                <a:solidFill>
                  <a:srgbClr val="14243D"/>
                </a:solidFill>
                <a:latin typeface="Arial"/>
              </a:defRPr>
            </a:pPr>
            <a:r>
              <a:t>Giới hạn dữ liệu: ‘digital/online’ luôn đi với năm mới.</a:t>
            </a:r>
          </a:p>
          <a:p>
            <a:pPr>
              <a:spcAft>
                <a:spcPts val="1000"/>
              </a:spcAft>
              <a:defRPr sz="2600" b="1">
                <a:solidFill>
                  <a:srgbClr val="14243D"/>
                </a:solidFill>
                <a:latin typeface="Arial"/>
              </a:defRPr>
            </a:pPr>
            <a:r>
              <a:t>Mô hình có thể học từ vựng thay vì hiểu thời gian.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07 / Thiết kế đối chứng</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Cùng nền khởi tạo, dữ liệu, seed và số bước</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08</a:t>
            </a:r>
          </a:p>
        </p:txBody>
      </p:sp>
      <p:sp>
        <p:nvSpPr>
          <p:cNvPr id="8" name="Rounded Rectangle 7"/>
          <p:cNvSpPr/>
          <p:nvPr/>
        </p:nvSpPr>
        <p:spPr>
          <a:xfrm>
            <a:off x="822960" y="2194560"/>
            <a:ext cx="5029200" cy="1737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95728"/>
            <a:ext cx="4572000" cy="502920"/>
          </a:xfrm>
          <a:prstGeom prst="rect">
            <a:avLst/>
          </a:prstGeom>
          <a:noFill/>
        </p:spPr>
        <p:txBody>
          <a:bodyPr wrap="square" lIns="0" rIns="0" tIns="0" bIns="0">
            <a:spAutoFit/>
          </a:bodyPr>
          <a:lstStyle/>
          <a:p>
            <a:pPr>
              <a:spcAft>
                <a:spcPts val="1000"/>
              </a:spcAft>
              <a:defRPr sz="2100" b="1">
                <a:solidFill>
                  <a:srgbClr val="159987"/>
                </a:solidFill>
                <a:latin typeface="Arial"/>
              </a:defRPr>
            </a:pPr>
            <a:r>
              <a:t>Chỉ CE</a:t>
            </a:r>
          </a:p>
        </p:txBody>
      </p:sp>
      <p:sp>
        <p:nvSpPr>
          <p:cNvPr id="10" name="TextBox 9"/>
          <p:cNvSpPr txBox="1"/>
          <p:nvPr/>
        </p:nvSpPr>
        <p:spPr>
          <a:xfrm>
            <a:off x="1051560" y="3035808"/>
            <a:ext cx="4572000" cy="822959"/>
          </a:xfrm>
          <a:prstGeom prst="rect">
            <a:avLst/>
          </a:prstGeom>
          <a:noFill/>
        </p:spPr>
        <p:txBody>
          <a:bodyPr wrap="square" lIns="0" rIns="0" tIns="0" bIns="0">
            <a:spAutoFit/>
          </a:bodyPr>
          <a:lstStyle/>
          <a:p>
            <a:pPr>
              <a:spcAft>
                <a:spcPts val="1000"/>
              </a:spcAft>
              <a:defRPr sz="2000" b="0">
                <a:solidFill>
                  <a:srgbClr val="14243D"/>
                </a:solidFill>
                <a:latin typeface="Arial"/>
              </a:defRPr>
            </a:pPr>
            <a:r>
              <a:t>λ = 1,0</a:t>
            </a:r>
          </a:p>
          <a:p>
            <a:pPr>
              <a:spcAft>
                <a:spcPts val="1000"/>
              </a:spcAft>
              <a:defRPr sz="2000" b="0">
                <a:solidFill>
                  <a:srgbClr val="14243D"/>
                </a:solidFill>
                <a:latin typeface="Arial"/>
              </a:defRPr>
            </a:pPr>
            <a:r>
              <a:t>TRPO ghi log, không tối ưu</a:t>
            </a:r>
          </a:p>
        </p:txBody>
      </p:sp>
      <p:sp>
        <p:nvSpPr>
          <p:cNvPr id="11" name="Rounded Rectangle 10"/>
          <p:cNvSpPr/>
          <p:nvPr/>
        </p:nvSpPr>
        <p:spPr>
          <a:xfrm>
            <a:off x="6126480" y="2194560"/>
            <a:ext cx="5212080" cy="1737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395728"/>
            <a:ext cx="475488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CE + TRPO</a:t>
            </a:r>
          </a:p>
        </p:txBody>
      </p:sp>
      <p:sp>
        <p:nvSpPr>
          <p:cNvPr id="13" name="TextBox 12"/>
          <p:cNvSpPr txBox="1"/>
          <p:nvPr/>
        </p:nvSpPr>
        <p:spPr>
          <a:xfrm>
            <a:off x="6355080" y="3035808"/>
            <a:ext cx="4754880" cy="822959"/>
          </a:xfrm>
          <a:prstGeom prst="rect">
            <a:avLst/>
          </a:prstGeom>
          <a:noFill/>
        </p:spPr>
        <p:txBody>
          <a:bodyPr wrap="square" lIns="0" rIns="0" tIns="0" bIns="0">
            <a:spAutoFit/>
          </a:bodyPr>
          <a:lstStyle/>
          <a:p>
            <a:pPr>
              <a:spcAft>
                <a:spcPts val="1000"/>
              </a:spcAft>
              <a:defRPr sz="2000" b="0">
                <a:solidFill>
                  <a:srgbClr val="14243D"/>
                </a:solidFill>
                <a:latin typeface="Arial"/>
              </a:defRPr>
            </a:pPr>
            <a:r>
              <a:t>λ = 0,925</a:t>
            </a:r>
          </a:p>
          <a:p>
            <a:pPr>
              <a:spcAft>
                <a:spcPts val="1000"/>
              </a:spcAft>
              <a:defRPr sz="2000" b="0">
                <a:solidFill>
                  <a:srgbClr val="14243D"/>
                </a:solidFill>
                <a:latin typeface="Arial"/>
              </a:defRPr>
            </a:pPr>
            <a:r>
              <a:t>Objective ưu tiên thời gian</a:t>
            </a:r>
          </a:p>
        </p:txBody>
      </p:sp>
      <p:sp>
        <p:nvSpPr>
          <p:cNvPr id="14" name="Rectangle 13"/>
          <p:cNvSpPr/>
          <p:nvPr/>
        </p:nvSpPr>
        <p:spPr>
          <a:xfrm>
            <a:off x="822960" y="454456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434840"/>
            <a:ext cx="10241280" cy="713232"/>
          </a:xfrm>
          <a:prstGeom prst="rect">
            <a:avLst/>
          </a:prstGeom>
          <a:noFill/>
        </p:spPr>
        <p:txBody>
          <a:bodyPr wrap="square" lIns="0" rIns="0" tIns="0" bIns="0">
            <a:spAutoFit/>
          </a:bodyPr>
          <a:lstStyle/>
          <a:p>
            <a:pPr>
              <a:spcAft>
                <a:spcPts val="1000"/>
              </a:spcAft>
              <a:defRPr sz="2400" b="0">
                <a:solidFill>
                  <a:srgbClr val="14243D"/>
                </a:solidFill>
                <a:latin typeface="Arial"/>
              </a:defRPr>
            </a:pPr>
            <a:r>
              <a:t>150 bước • batch 8 • queue 256 • learning rate 0,01</a:t>
            </a:r>
          </a:p>
        </p:txBody>
      </p:sp>
      <p:sp>
        <p:nvSpPr>
          <p:cNvPr id="16" name="Rectangle 15"/>
          <p:cNvSpPr/>
          <p:nvPr/>
        </p:nvSpPr>
        <p:spPr>
          <a:xfrm>
            <a:off x="822960" y="536752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257800"/>
            <a:ext cx="10241280" cy="713232"/>
          </a:xfrm>
          <a:prstGeom prst="rect">
            <a:avLst/>
          </a:prstGeom>
          <a:noFill/>
        </p:spPr>
        <p:txBody>
          <a:bodyPr wrap="square" lIns="0" rIns="0" tIns="0" bIns="0">
            <a:spAutoFit/>
          </a:bodyPr>
          <a:lstStyle/>
          <a:p>
            <a:pPr>
              <a:spcAft>
                <a:spcPts val="1000"/>
              </a:spcAft>
              <a:defRPr sz="2400" b="0">
                <a:solidFill>
                  <a:srgbClr val="14243D"/>
                </a:solidFill>
                <a:latin typeface="Arial"/>
              </a:defRPr>
            </a:pPr>
            <a:r>
              <a:t>Seed 42, 43, 44 • CPU • không xóa từ ở demo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08 / Kết quả: cả hai nhánh đã train đạt trần</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Seed 42 • toàn bộ 8 query test • thang điểm 0–1</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09</a:t>
            </a:r>
          </a:p>
        </p:txBody>
      </p:sp>
      <p:pic>
        <p:nvPicPr>
          <p:cNvPr id="8" name="Picture 7" descr="metrics.png"/>
          <p:cNvPicPr>
            <a:picLocks noChangeAspect="1"/>
          </p:cNvPicPr>
          <p:nvPr/>
        </p:nvPicPr>
        <p:blipFill>
          <a:blip r:embed="rId3"/>
          <a:stretch>
            <a:fillRect/>
          </a:stretch>
        </p:blipFill>
        <p:spPr>
          <a:xfrm>
            <a:off x="1623060" y="2011680"/>
            <a:ext cx="8915400" cy="3566160"/>
          </a:xfrm>
          <a:prstGeom prst="rect">
            <a:avLst/>
          </a:prstGeom>
        </p:spPr>
      </p:pic>
      <p:sp>
        <p:nvSpPr>
          <p:cNvPr id="9" name="TextBox 8"/>
          <p:cNvSpPr txBox="1"/>
          <p:nvPr/>
        </p:nvSpPr>
        <p:spPr>
          <a:xfrm>
            <a:off x="914400" y="5806440"/>
            <a:ext cx="10332720" cy="457200"/>
          </a:xfrm>
          <a:prstGeom prst="rect">
            <a:avLst/>
          </a:prstGeom>
          <a:noFill/>
        </p:spPr>
        <p:txBody>
          <a:bodyPr wrap="square" lIns="0" rIns="0" tIns="0" bIns="0">
            <a:spAutoFit/>
          </a:bodyPr>
          <a:lstStyle/>
          <a:p>
            <a:pPr>
              <a:spcAft>
                <a:spcPts val="1000"/>
              </a:spcAft>
              <a:defRPr sz="2100" b="1">
                <a:solidFill>
                  <a:srgbClr val="3767E8"/>
                </a:solidFill>
                <a:latin typeface="Arial"/>
              </a:defRPr>
            </a:pPr>
            <a:r>
              <a:t>Δ(CE + TRPO − chỉ CE) = 0  →  chưa thấy lợi ích riêng của TRPO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09 / Lặp với 3 seed để kiểm tra độ nhạy</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Dữ liệu vẫn giả lập; các seed không thay thế benchmark thực</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10</a:t>
            </a:r>
          </a:p>
        </p:txBody>
      </p:sp>
      <p:sp>
        <p:nvSpPr>
          <p:cNvPr id="8" name="Rounded Rectangle 7"/>
          <p:cNvSpPr/>
          <p:nvPr/>
        </p:nvSpPr>
        <p:spPr>
          <a:xfrm>
            <a:off x="822960" y="2286000"/>
            <a:ext cx="3337560"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87168"/>
            <a:ext cx="288036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Seed 42</a:t>
            </a:r>
          </a:p>
        </p:txBody>
      </p:sp>
      <p:sp>
        <p:nvSpPr>
          <p:cNvPr id="10" name="TextBox 9"/>
          <p:cNvSpPr txBox="1"/>
          <p:nvPr/>
        </p:nvSpPr>
        <p:spPr>
          <a:xfrm>
            <a:off x="1051560" y="3127248"/>
            <a:ext cx="2880360" cy="1554480"/>
          </a:xfrm>
          <a:prstGeom prst="rect">
            <a:avLst/>
          </a:prstGeom>
          <a:noFill/>
        </p:spPr>
        <p:txBody>
          <a:bodyPr wrap="square" lIns="0" rIns="0" tIns="0" bIns="0">
            <a:spAutoFit/>
          </a:bodyPr>
          <a:lstStyle/>
          <a:p>
            <a:pPr>
              <a:spcAft>
                <a:spcPts val="1000"/>
              </a:spcAft>
              <a:defRPr sz="2000" b="0">
                <a:solidFill>
                  <a:srgbClr val="14243D"/>
                </a:solidFill>
                <a:latin typeface="Arial"/>
              </a:defRPr>
            </a:pPr>
            <a:r>
              <a:t>Chưa train: 0.303</a:t>
            </a:r>
          </a:p>
          <a:p>
            <a:pPr>
              <a:spcAft>
                <a:spcPts val="1000"/>
              </a:spcAft>
              <a:defRPr sz="2000" b="0">
                <a:solidFill>
                  <a:srgbClr val="14243D"/>
                </a:solidFill>
                <a:latin typeface="Arial"/>
              </a:defRPr>
            </a:pPr>
            <a:r>
              <a:t>Chỉ CE: 1.000</a:t>
            </a:r>
          </a:p>
          <a:p>
            <a:pPr>
              <a:spcAft>
                <a:spcPts val="1000"/>
              </a:spcAft>
              <a:defRPr sz="2000" b="0">
                <a:solidFill>
                  <a:srgbClr val="14243D"/>
                </a:solidFill>
                <a:latin typeface="Arial"/>
              </a:defRPr>
            </a:pPr>
            <a:r>
              <a:t>CE+TRPO: 1.000</a:t>
            </a:r>
          </a:p>
        </p:txBody>
      </p:sp>
      <p:sp>
        <p:nvSpPr>
          <p:cNvPr id="11" name="Rounded Rectangle 10"/>
          <p:cNvSpPr/>
          <p:nvPr/>
        </p:nvSpPr>
        <p:spPr>
          <a:xfrm>
            <a:off x="4389120" y="2286000"/>
            <a:ext cx="3337560"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487168"/>
            <a:ext cx="288036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Seed 43</a:t>
            </a:r>
          </a:p>
        </p:txBody>
      </p:sp>
      <p:sp>
        <p:nvSpPr>
          <p:cNvPr id="13" name="TextBox 12"/>
          <p:cNvSpPr txBox="1"/>
          <p:nvPr/>
        </p:nvSpPr>
        <p:spPr>
          <a:xfrm>
            <a:off x="4617720" y="3127248"/>
            <a:ext cx="2880360" cy="1554480"/>
          </a:xfrm>
          <a:prstGeom prst="rect">
            <a:avLst/>
          </a:prstGeom>
          <a:noFill/>
        </p:spPr>
        <p:txBody>
          <a:bodyPr wrap="square" lIns="0" rIns="0" tIns="0" bIns="0">
            <a:spAutoFit/>
          </a:bodyPr>
          <a:lstStyle/>
          <a:p>
            <a:pPr>
              <a:spcAft>
                <a:spcPts val="1000"/>
              </a:spcAft>
              <a:defRPr sz="2000" b="0">
                <a:solidFill>
                  <a:srgbClr val="14243D"/>
                </a:solidFill>
                <a:latin typeface="Arial"/>
              </a:defRPr>
            </a:pPr>
            <a:r>
              <a:t>Chưa train: 0.315</a:t>
            </a:r>
          </a:p>
          <a:p>
            <a:pPr>
              <a:spcAft>
                <a:spcPts val="1000"/>
              </a:spcAft>
              <a:defRPr sz="2000" b="0">
                <a:solidFill>
                  <a:srgbClr val="14243D"/>
                </a:solidFill>
                <a:latin typeface="Arial"/>
              </a:defRPr>
            </a:pPr>
            <a:r>
              <a:t>Chỉ CE: 1.000</a:t>
            </a:r>
          </a:p>
          <a:p>
            <a:pPr>
              <a:spcAft>
                <a:spcPts val="1000"/>
              </a:spcAft>
              <a:defRPr sz="2000" b="0">
                <a:solidFill>
                  <a:srgbClr val="14243D"/>
                </a:solidFill>
                <a:latin typeface="Arial"/>
              </a:defRPr>
            </a:pPr>
            <a:r>
              <a:t>CE+TRPO: 1.000</a:t>
            </a:r>
          </a:p>
        </p:txBody>
      </p:sp>
      <p:sp>
        <p:nvSpPr>
          <p:cNvPr id="14" name="Rounded Rectangle 13"/>
          <p:cNvSpPr/>
          <p:nvPr/>
        </p:nvSpPr>
        <p:spPr>
          <a:xfrm>
            <a:off x="7955279" y="2286000"/>
            <a:ext cx="3337560"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2487168"/>
            <a:ext cx="288036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Seed 44</a:t>
            </a:r>
          </a:p>
        </p:txBody>
      </p:sp>
      <p:sp>
        <p:nvSpPr>
          <p:cNvPr id="16" name="TextBox 15"/>
          <p:cNvSpPr txBox="1"/>
          <p:nvPr/>
        </p:nvSpPr>
        <p:spPr>
          <a:xfrm>
            <a:off x="8183879" y="3127248"/>
            <a:ext cx="2880360" cy="1554480"/>
          </a:xfrm>
          <a:prstGeom prst="rect">
            <a:avLst/>
          </a:prstGeom>
          <a:noFill/>
        </p:spPr>
        <p:txBody>
          <a:bodyPr wrap="square" lIns="0" rIns="0" tIns="0" bIns="0">
            <a:spAutoFit/>
          </a:bodyPr>
          <a:lstStyle/>
          <a:p>
            <a:pPr>
              <a:spcAft>
                <a:spcPts val="1000"/>
              </a:spcAft>
              <a:defRPr sz="2000" b="0">
                <a:solidFill>
                  <a:srgbClr val="14243D"/>
                </a:solidFill>
                <a:latin typeface="Arial"/>
              </a:defRPr>
            </a:pPr>
            <a:r>
              <a:t>Chưa train: 0.299</a:t>
            </a:r>
          </a:p>
          <a:p>
            <a:pPr>
              <a:spcAft>
                <a:spcPts val="1000"/>
              </a:spcAft>
              <a:defRPr sz="2000" b="0">
                <a:solidFill>
                  <a:srgbClr val="14243D"/>
                </a:solidFill>
                <a:latin typeface="Arial"/>
              </a:defRPr>
            </a:pPr>
            <a:r>
              <a:t>Chỉ CE: 1.000</a:t>
            </a:r>
          </a:p>
          <a:p>
            <a:pPr>
              <a:spcAft>
                <a:spcPts val="1000"/>
              </a:spcAft>
              <a:defRPr sz="2000" b="0">
                <a:solidFill>
                  <a:srgbClr val="14243D"/>
                </a:solidFill>
                <a:latin typeface="Arial"/>
              </a:defRPr>
            </a:pPr>
            <a:r>
              <a:t>CE+TRPO: 1.000</a:t>
            </a:r>
          </a:p>
        </p:txBody>
      </p:sp>
      <p:sp>
        <p:nvSpPr>
          <p:cNvPr id="17" name="TextBox 16"/>
          <p:cNvSpPr txBox="1"/>
          <p:nvPr/>
        </p:nvSpPr>
        <p:spPr>
          <a:xfrm>
            <a:off x="914400" y="5166360"/>
            <a:ext cx="10332720" cy="640080"/>
          </a:xfrm>
          <a:prstGeom prst="rect">
            <a:avLst/>
          </a:prstGeom>
          <a:noFill/>
        </p:spPr>
        <p:txBody>
          <a:bodyPr wrap="square" lIns="0" rIns="0" tIns="0" bIns="0">
            <a:spAutoFit/>
          </a:bodyPr>
          <a:lstStyle/>
          <a:p>
            <a:pPr>
              <a:spcAft>
                <a:spcPts val="1000"/>
              </a:spcAft>
              <a:defRPr sz="2500" b="0">
                <a:solidFill>
                  <a:srgbClr val="63748A"/>
                </a:solidFill>
                <a:latin typeface="Arial"/>
              </a:defRPr>
            </a:pPr>
            <a:r>
              <a:t>nDCG@5 • cùng corpus / query / protocol đánh giá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10 / Quan sát loss và tính đúng</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Log seed 42 + 5 kiểm tra tự động thành công</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11</a:t>
            </a:r>
          </a:p>
        </p:txBody>
      </p:sp>
      <p:pic>
        <p:nvPicPr>
          <p:cNvPr id="8" name="Picture 7" descr="loss.png"/>
          <p:cNvPicPr>
            <a:picLocks noChangeAspect="1"/>
          </p:cNvPicPr>
          <p:nvPr/>
        </p:nvPicPr>
        <p:blipFill>
          <a:blip r:embed="rId3"/>
          <a:stretch>
            <a:fillRect/>
          </a:stretch>
        </p:blipFill>
        <p:spPr>
          <a:xfrm>
            <a:off x="1737360" y="2011680"/>
            <a:ext cx="8686800" cy="3474720"/>
          </a:xfrm>
          <a:prstGeom prst="rect">
            <a:avLst/>
          </a:prstGeom>
        </p:spPr>
      </p:pic>
      <p:sp>
        <p:nvSpPr>
          <p:cNvPr id="9" name="TextBox 8"/>
          <p:cNvSpPr txBox="1"/>
          <p:nvPr/>
        </p:nvSpPr>
        <p:spPr>
          <a:xfrm>
            <a:off x="914400" y="5806440"/>
            <a:ext cx="10332720" cy="457200"/>
          </a:xfrm>
          <a:prstGeom prst="rect">
            <a:avLst/>
          </a:prstGeom>
          <a:noFill/>
        </p:spPr>
        <p:txBody>
          <a:bodyPr wrap="square" lIns="0" rIns="0" tIns="0" bIns="0">
            <a:spAutoFit/>
          </a:bodyPr>
          <a:lstStyle/>
          <a:p>
            <a:pPr>
              <a:spcAft>
                <a:spcPts val="1000"/>
              </a:spcAft>
              <a:defRPr sz="2000" b="1">
                <a:solidFill>
                  <a:srgbClr val="159987"/>
                </a:solidFill>
                <a:latin typeface="Arial"/>
              </a:defRPr>
            </a:pPr>
            <a:r>
              <a:t>5/5 đạt: gradient • reference • queue/momentum • metrics • input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11 / Contriever thật đã chạy trên CPU</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Smoke test ngày 10/10/2026 • không phải kết quả benchmark</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12</a:t>
            </a:r>
          </a:p>
        </p:txBody>
      </p:sp>
      <p:sp>
        <p:nvSpPr>
          <p:cNvPr id="8" name="Rounded Rectangle 7"/>
          <p:cNvSpPr/>
          <p:nvPr/>
        </p:nvSpPr>
        <p:spPr>
          <a:xfrm>
            <a:off x="822960" y="2286000"/>
            <a:ext cx="5029200"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87168"/>
            <a:ext cx="457200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Cấu hình</a:t>
            </a:r>
          </a:p>
        </p:txBody>
      </p:sp>
      <p:sp>
        <p:nvSpPr>
          <p:cNvPr id="10" name="TextBox 9"/>
          <p:cNvSpPr txBox="1"/>
          <p:nvPr/>
        </p:nvSpPr>
        <p:spPr>
          <a:xfrm>
            <a:off x="1051560" y="3127248"/>
            <a:ext cx="4572000" cy="1554480"/>
          </a:xfrm>
          <a:prstGeom prst="rect">
            <a:avLst/>
          </a:prstGeom>
          <a:noFill/>
        </p:spPr>
        <p:txBody>
          <a:bodyPr wrap="square" lIns="0" rIns="0" tIns="0" bIns="0">
            <a:spAutoFit/>
          </a:bodyPr>
          <a:lstStyle/>
          <a:p>
            <a:pPr>
              <a:spcAft>
                <a:spcPts val="1000"/>
              </a:spcAft>
              <a:defRPr sz="2000" b="0">
                <a:solidFill>
                  <a:srgbClr val="14243D"/>
                </a:solidFill>
                <a:latin typeface="Arial"/>
              </a:defRPr>
            </a:pPr>
            <a:r>
              <a:t>8 mẫu • 2 bước • batch 2</a:t>
            </a:r>
          </a:p>
          <a:p>
            <a:pPr>
              <a:spcAft>
                <a:spcPts val="1000"/>
              </a:spcAft>
              <a:defRPr sz="2000" b="0">
                <a:solidFill>
                  <a:srgbClr val="14243D"/>
                </a:solidFill>
                <a:latin typeface="Arial"/>
              </a:defRPr>
            </a:pPr>
            <a:r>
              <a:t>Max length 64 • queue 8</a:t>
            </a:r>
          </a:p>
          <a:p>
            <a:pPr>
              <a:spcAft>
                <a:spcPts val="1000"/>
              </a:spcAft>
              <a:defRPr sz="2000" b="0">
                <a:solidFill>
                  <a:srgbClr val="14243D"/>
                </a:solidFill>
                <a:latin typeface="Arial"/>
              </a:defRPr>
            </a:pPr>
            <a:r>
              <a:t>Learning rate 1e-6</a:t>
            </a:r>
          </a:p>
        </p:txBody>
      </p:sp>
      <p:sp>
        <p:nvSpPr>
          <p:cNvPr id="11" name="Rounded Rectangle 10"/>
          <p:cNvSpPr/>
          <p:nvPr/>
        </p:nvSpPr>
        <p:spPr>
          <a:xfrm>
            <a:off x="6126480" y="2286000"/>
            <a:ext cx="5212080"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487168"/>
            <a:ext cx="4754880" cy="502920"/>
          </a:xfrm>
          <a:prstGeom prst="rect">
            <a:avLst/>
          </a:prstGeom>
          <a:noFill/>
        </p:spPr>
        <p:txBody>
          <a:bodyPr wrap="square" lIns="0" rIns="0" tIns="0" bIns="0">
            <a:spAutoFit/>
          </a:bodyPr>
          <a:lstStyle/>
          <a:p>
            <a:pPr>
              <a:spcAft>
                <a:spcPts val="1000"/>
              </a:spcAft>
              <a:defRPr sz="2100" b="1">
                <a:solidFill>
                  <a:srgbClr val="159987"/>
                </a:solidFill>
                <a:latin typeface="Arial"/>
              </a:defRPr>
            </a:pPr>
            <a:r>
              <a:t>Bằng chứng</a:t>
            </a:r>
          </a:p>
        </p:txBody>
      </p:sp>
      <p:sp>
        <p:nvSpPr>
          <p:cNvPr id="13" name="TextBox 12"/>
          <p:cNvSpPr txBox="1"/>
          <p:nvPr/>
        </p:nvSpPr>
        <p:spPr>
          <a:xfrm>
            <a:off x="6355080" y="3127248"/>
            <a:ext cx="4754880" cy="1554480"/>
          </a:xfrm>
          <a:prstGeom prst="rect">
            <a:avLst/>
          </a:prstGeom>
          <a:noFill/>
        </p:spPr>
        <p:txBody>
          <a:bodyPr wrap="square" lIns="0" rIns="0" tIns="0" bIns="0">
            <a:spAutoFit/>
          </a:bodyPr>
          <a:lstStyle/>
          <a:p>
            <a:pPr>
              <a:spcAft>
                <a:spcPts val="1000"/>
              </a:spcAft>
              <a:defRPr sz="2000" b="0">
                <a:solidFill>
                  <a:srgbClr val="14243D"/>
                </a:solidFill>
                <a:latin typeface="Arial"/>
              </a:defRPr>
            </a:pPr>
            <a:r>
              <a:t>Forward / backward thành công</a:t>
            </a:r>
          </a:p>
          <a:p>
            <a:pPr>
              <a:spcAft>
                <a:spcPts val="1000"/>
              </a:spcAft>
              <a:defRPr sz="2000" b="0">
                <a:solidFill>
                  <a:srgbClr val="14243D"/>
                </a:solidFill>
                <a:latin typeface="Arial"/>
              </a:defRPr>
            </a:pPr>
            <a:r>
              <a:t>Lưu &amp; nạp checkpoint ~438 MB</a:t>
            </a:r>
          </a:p>
          <a:p>
            <a:pPr>
              <a:spcAft>
                <a:spcPts val="1000"/>
              </a:spcAft>
              <a:defRPr sz="2000" b="0">
                <a:solidFill>
                  <a:srgbClr val="14243D"/>
                </a:solidFill>
                <a:latin typeface="Arial"/>
              </a:defRPr>
            </a:pPr>
            <a:r>
              <a:t>Loss: 0,04648 → 0,27002</a:t>
            </a:r>
          </a:p>
        </p:txBody>
      </p:sp>
      <p:sp>
        <p:nvSpPr>
          <p:cNvPr id="14" name="TextBox 13"/>
          <p:cNvSpPr txBox="1"/>
          <p:nvPr/>
        </p:nvSpPr>
        <p:spPr>
          <a:xfrm>
            <a:off x="914400" y="5257800"/>
            <a:ext cx="10332720" cy="731520"/>
          </a:xfrm>
          <a:prstGeom prst="rect">
            <a:avLst/>
          </a:prstGeom>
          <a:noFill/>
        </p:spPr>
        <p:txBody>
          <a:bodyPr wrap="square" lIns="0" rIns="0" tIns="0" bIns="0">
            <a:spAutoFit/>
          </a:bodyPr>
          <a:lstStyle/>
          <a:p>
            <a:pPr>
              <a:spcAft>
                <a:spcPts val="1000"/>
              </a:spcAft>
              <a:defRPr sz="2400" b="1">
                <a:solidFill>
                  <a:srgbClr val="3767E8"/>
                </a:solidFill>
                <a:latin typeface="Arial"/>
              </a:defRPr>
            </a:pPr>
            <a:r>
              <a:t>Kết luận: đường chạy mô hình thật hoạt động. Chưa đánh giá retrieval đầy đủ.</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12 / Ảnh demo: từ query đến xếp hạng</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Ảnh chụp Chrome từ viewer; điểm tính bằng checkpoint toy</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13</a:t>
            </a:r>
          </a:p>
        </p:txBody>
      </p:sp>
      <p:pic>
        <p:nvPicPr>
          <p:cNvPr id="8" name="Picture 7" descr="demo_02_retrieval_detail.png"/>
          <p:cNvPicPr>
            <a:picLocks noChangeAspect="1"/>
          </p:cNvPicPr>
          <p:nvPr/>
        </p:nvPicPr>
        <p:blipFill>
          <a:blip r:embed="rId3"/>
          <a:stretch>
            <a:fillRect/>
          </a:stretch>
        </p:blipFill>
        <p:spPr>
          <a:xfrm>
            <a:off x="1351842" y="2148840"/>
            <a:ext cx="9503554" cy="374903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13 / Ảnh demo: log có thể kiểm tra</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Bằng chứng lệnh chạy, exit code, seed và provenance</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14</a:t>
            </a:r>
          </a:p>
        </p:txBody>
      </p:sp>
      <p:pic>
        <p:nvPicPr>
          <p:cNvPr id="8" name="Picture 7" descr="demo_03_checks_detail.png"/>
          <p:cNvPicPr>
            <a:picLocks noChangeAspect="1"/>
          </p:cNvPicPr>
          <p:nvPr/>
        </p:nvPicPr>
        <p:blipFill>
          <a:blip r:embed="rId3"/>
          <a:stretch>
            <a:fillRect/>
          </a:stretch>
        </p:blipFill>
        <p:spPr>
          <a:xfrm>
            <a:off x="2401224" y="2148840"/>
            <a:ext cx="7404791" cy="374903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14 / Nội suy thời gian là nội suy trọng số</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Cùng mô hình nền, kiến trúc và tokenizer [1]</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15</a:t>
            </a:r>
          </a:p>
        </p:txBody>
      </p:sp>
      <p:sp>
        <p:nvSpPr>
          <p:cNvPr id="8" name="Rounded Rectangle 7"/>
          <p:cNvSpPr/>
          <p:nvPr/>
        </p:nvSpPr>
        <p:spPr>
          <a:xfrm>
            <a:off x="822960" y="2286000"/>
            <a:ext cx="10515600" cy="1325880"/>
          </a:xfrm>
          <a:prstGeom prst="roundRect">
            <a:avLst/>
          </a:prstGeom>
          <a:solidFill>
            <a:srgbClr val="14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24912"/>
            <a:ext cx="9966960" cy="548640"/>
          </a:xfrm>
          <a:prstGeom prst="rect">
            <a:avLst/>
          </a:prstGeom>
          <a:noFill/>
        </p:spPr>
        <p:txBody>
          <a:bodyPr wrap="square" lIns="0" rIns="0" tIns="0" bIns="0">
            <a:spAutoFit/>
          </a:bodyPr>
          <a:lstStyle/>
          <a:p>
            <a:pPr>
              <a:spcAft>
                <a:spcPts val="1000"/>
              </a:spcAft>
              <a:defRPr sz="3100" b="1">
                <a:solidFill>
                  <a:srgbClr val="FFFFFF"/>
                </a:solidFill>
                <a:latin typeface="Arial"/>
              </a:defRPr>
            </a:pPr>
            <a:r>
              <a:t>θmid = (1 − α) · θleft + α · θright</a:t>
            </a:r>
          </a:p>
        </p:txBody>
      </p:sp>
      <p:sp>
        <p:nvSpPr>
          <p:cNvPr id="10" name="Rectangle 9"/>
          <p:cNvSpPr/>
          <p:nvPr/>
        </p:nvSpPr>
        <p:spPr>
          <a:xfrm>
            <a:off x="822960" y="417880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69080"/>
            <a:ext cx="10241280" cy="576072"/>
          </a:xfrm>
          <a:prstGeom prst="rect">
            <a:avLst/>
          </a:prstGeom>
          <a:noFill/>
        </p:spPr>
        <p:txBody>
          <a:bodyPr wrap="square" lIns="0" rIns="0" tIns="0" bIns="0">
            <a:spAutoFit/>
          </a:bodyPr>
          <a:lstStyle/>
          <a:p>
            <a:pPr>
              <a:spcAft>
                <a:spcPts val="1000"/>
              </a:spcAft>
              <a:defRPr sz="2300" b="0">
                <a:solidFill>
                  <a:srgbClr val="14243D"/>
                </a:solidFill>
                <a:latin typeface="Arial"/>
              </a:defRPr>
            </a:pPr>
            <a:r>
              <a:t>Time vector = độ lệch tham số so với cùng nền</a:t>
            </a:r>
          </a:p>
        </p:txBody>
      </p:sp>
      <p:sp>
        <p:nvSpPr>
          <p:cNvPr id="12" name="Rectangle 11"/>
          <p:cNvSpPr/>
          <p:nvPr/>
        </p:nvSpPr>
        <p:spPr>
          <a:xfrm>
            <a:off x="822960" y="486460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754880"/>
            <a:ext cx="10241280" cy="576072"/>
          </a:xfrm>
          <a:prstGeom prst="rect">
            <a:avLst/>
          </a:prstGeom>
          <a:noFill/>
        </p:spPr>
        <p:txBody>
          <a:bodyPr wrap="square" lIns="0" rIns="0" tIns="0" bIns="0">
            <a:spAutoFit/>
          </a:bodyPr>
          <a:lstStyle/>
          <a:p>
            <a:pPr>
              <a:spcAft>
                <a:spcPts val="1000"/>
              </a:spcAft>
              <a:defRPr sz="2300" b="0">
                <a:solidFill>
                  <a:srgbClr val="14243D"/>
                </a:solidFill>
                <a:latin typeface="Arial"/>
              </a:defRPr>
            </a:pPr>
            <a:r>
              <a:t>Mã hóa corpus lại bằng encoder nội suy</a:t>
            </a:r>
          </a:p>
        </p:txBody>
      </p:sp>
      <p:sp>
        <p:nvSpPr>
          <p:cNvPr id="14" name="Rectangle 13"/>
          <p:cNvSpPr/>
          <p:nvPr/>
        </p:nvSpPr>
        <p:spPr>
          <a:xfrm>
            <a:off x="822960" y="555040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440680"/>
            <a:ext cx="10241280" cy="576072"/>
          </a:xfrm>
          <a:prstGeom prst="rect">
            <a:avLst/>
          </a:prstGeom>
          <a:noFill/>
        </p:spPr>
        <p:txBody>
          <a:bodyPr wrap="square" lIns="0" rIns="0" tIns="0" bIns="0">
            <a:spAutoFit/>
          </a:bodyPr>
          <a:lstStyle/>
          <a:p>
            <a:pPr>
              <a:spcAft>
                <a:spcPts val="1000"/>
              </a:spcAft>
              <a:defRPr sz="2300" b="0">
                <a:solidFill>
                  <a:srgbClr val="14243D"/>
                </a:solidFill>
                <a:latin typeface="Arial"/>
              </a:defRPr>
            </a:pPr>
            <a:r>
              <a:t>Chưa có kiểm chứng mốc trung gian trong demo hiện tại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15 / Giới hạn là một phần của kết quả</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Skeleton chạy được chưa đồng nghĩa tái lập bài báo</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16</a:t>
            </a:r>
          </a:p>
        </p:txBody>
      </p:sp>
      <p:sp>
        <p:nvSpPr>
          <p:cNvPr id="8" name="Rectangle 7"/>
          <p:cNvSpPr/>
          <p:nvPr/>
        </p:nvSpPr>
        <p:spPr>
          <a:xfrm>
            <a:off x="822960" y="230428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241280" cy="713232"/>
          </a:xfrm>
          <a:prstGeom prst="rect">
            <a:avLst/>
          </a:prstGeom>
          <a:noFill/>
        </p:spPr>
        <p:txBody>
          <a:bodyPr wrap="square" lIns="0" rIns="0" tIns="0" bIns="0">
            <a:spAutoFit/>
          </a:bodyPr>
          <a:lstStyle/>
          <a:p>
            <a:pPr>
              <a:spcAft>
                <a:spcPts val="1000"/>
              </a:spcAft>
              <a:defRPr sz="2400" b="0">
                <a:solidFill>
                  <a:srgbClr val="14243D"/>
                </a:solidFill>
                <a:latin typeface="Arial"/>
              </a:defRPr>
            </a:pPr>
            <a:r>
              <a:t>Toy encoder + template chung → bài toán dễ đạt trần</a:t>
            </a:r>
          </a:p>
        </p:txBody>
      </p:sp>
      <p:sp>
        <p:nvSpPr>
          <p:cNvPr id="10" name="Rectangle 9"/>
          <p:cNvSpPr/>
          <p:nvPr/>
        </p:nvSpPr>
        <p:spPr>
          <a:xfrm>
            <a:off x="822960" y="312724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017520"/>
            <a:ext cx="10241280" cy="713232"/>
          </a:xfrm>
          <a:prstGeom prst="rect">
            <a:avLst/>
          </a:prstGeom>
          <a:noFill/>
        </p:spPr>
        <p:txBody>
          <a:bodyPr wrap="square" lIns="0" rIns="0" tIns="0" bIns="0">
            <a:spAutoFit/>
          </a:bodyPr>
          <a:lstStyle/>
          <a:p>
            <a:pPr>
              <a:spcAft>
                <a:spcPts val="1000"/>
              </a:spcAft>
              <a:defRPr sz="2400" b="0">
                <a:solidFill>
                  <a:srgbClr val="14243D"/>
                </a:solidFill>
                <a:latin typeface="Arial"/>
              </a:defRPr>
            </a:pPr>
            <a:r>
              <a:t>Chỉ CE cũng đạt tối đa → chưa chứng minh TRPO tốt hơn</a:t>
            </a:r>
          </a:p>
        </p:txBody>
      </p:sp>
      <p:sp>
        <p:nvSpPr>
          <p:cNvPr id="12" name="Rectangle 11"/>
          <p:cNvSpPr/>
          <p:nvPr/>
        </p:nvSpPr>
        <p:spPr>
          <a:xfrm>
            <a:off x="822960" y="395020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840480"/>
            <a:ext cx="10241280" cy="713232"/>
          </a:xfrm>
          <a:prstGeom prst="rect">
            <a:avLst/>
          </a:prstGeom>
          <a:noFill/>
        </p:spPr>
        <p:txBody>
          <a:bodyPr wrap="square" lIns="0" rIns="0" tIns="0" bIns="0">
            <a:spAutoFit/>
          </a:bodyPr>
          <a:lstStyle/>
          <a:p>
            <a:pPr>
              <a:spcAft>
                <a:spcPts val="1000"/>
              </a:spcAft>
              <a:defRPr sz="2400" b="0">
                <a:solidFill>
                  <a:srgbClr val="14243D"/>
                </a:solidFill>
                <a:latin typeface="Arial"/>
              </a:defRPr>
            </a:pPr>
            <a:r>
              <a:t>2 bước Contriever → chỉ xác nhận khả năng chạy</a:t>
            </a:r>
          </a:p>
        </p:txBody>
      </p:sp>
      <p:sp>
        <p:nvSpPr>
          <p:cNvPr id="14" name="Rectangle 13"/>
          <p:cNvSpPr/>
          <p:nvPr/>
        </p:nvSpPr>
        <p:spPr>
          <a:xfrm>
            <a:off x="822960" y="477316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10241280" cy="713232"/>
          </a:xfrm>
          <a:prstGeom prst="rect">
            <a:avLst/>
          </a:prstGeom>
          <a:noFill/>
        </p:spPr>
        <p:txBody>
          <a:bodyPr wrap="square" lIns="0" rIns="0" tIns="0" bIns="0">
            <a:spAutoFit/>
          </a:bodyPr>
          <a:lstStyle/>
          <a:p>
            <a:pPr>
              <a:spcAft>
                <a:spcPts val="1000"/>
              </a:spcAft>
              <a:defRPr sz="2400" b="0">
                <a:solidFill>
                  <a:srgbClr val="14243D"/>
                </a:solidFill>
                <a:latin typeface="Arial"/>
              </a:defRPr>
            </a:pPr>
            <a:r>
              <a:t>Chưa BEIR / temporal QA; bản gọn khác upstream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16 / Bước tiếp theo: đo giá trị gia tăng thật</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Giữ cùng protocol cho Contriever gốc, CE-only và TPOUR</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17</a:t>
            </a:r>
          </a:p>
        </p:txBody>
      </p:sp>
      <p:sp>
        <p:nvSpPr>
          <p:cNvPr id="8" name="Rounded Rectangle 7"/>
          <p:cNvSpPr/>
          <p:nvPr/>
        </p:nvSpPr>
        <p:spPr>
          <a:xfrm>
            <a:off x="822960" y="2240280"/>
            <a:ext cx="3337560"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41448"/>
            <a:ext cx="288036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Dữ liệu</a:t>
            </a:r>
          </a:p>
        </p:txBody>
      </p:sp>
      <p:sp>
        <p:nvSpPr>
          <p:cNvPr id="10" name="TextBox 9"/>
          <p:cNvSpPr txBox="1"/>
          <p:nvPr/>
        </p:nvSpPr>
        <p:spPr>
          <a:xfrm>
            <a:off x="1051560" y="3081528"/>
            <a:ext cx="2880360" cy="1508760"/>
          </a:xfrm>
          <a:prstGeom prst="rect">
            <a:avLst/>
          </a:prstGeom>
          <a:noFill/>
        </p:spPr>
        <p:txBody>
          <a:bodyPr wrap="square" lIns="0" rIns="0" tIns="0" bIns="0">
            <a:spAutoFit/>
          </a:bodyPr>
          <a:lstStyle/>
          <a:p>
            <a:pPr>
              <a:spcAft>
                <a:spcPts val="1000"/>
              </a:spcAft>
              <a:defRPr sz="2000" b="0">
                <a:solidFill>
                  <a:srgbClr val="14243D"/>
                </a:solidFill>
                <a:latin typeface="Arial"/>
              </a:defRPr>
            </a:pPr>
            <a:r>
              <a:t>Snapshot thực theo mốc</a:t>
            </a:r>
          </a:p>
          <a:p>
            <a:pPr>
              <a:spcAft>
                <a:spcPts val="1000"/>
              </a:spcAft>
              <a:defRPr sz="2000" b="0">
                <a:solidFill>
                  <a:srgbClr val="14243D"/>
                </a:solidFill>
                <a:latin typeface="Arial"/>
              </a:defRPr>
            </a:pPr>
            <a:r>
              <a:t>Negative cùng chủ đề</a:t>
            </a:r>
          </a:p>
          <a:p>
            <a:pPr>
              <a:spcAft>
                <a:spcPts val="1000"/>
              </a:spcAft>
              <a:defRPr sz="2000" b="0">
                <a:solidFill>
                  <a:srgbClr val="14243D"/>
                </a:solidFill>
                <a:latin typeface="Arial"/>
              </a:defRPr>
            </a:pPr>
            <a:r>
              <a:t>Chống rò rỉ / near-duplicate</a:t>
            </a:r>
          </a:p>
        </p:txBody>
      </p:sp>
      <p:sp>
        <p:nvSpPr>
          <p:cNvPr id="11" name="Rounded Rectangle 10"/>
          <p:cNvSpPr/>
          <p:nvPr/>
        </p:nvSpPr>
        <p:spPr>
          <a:xfrm>
            <a:off x="4389120" y="2240280"/>
            <a:ext cx="3337560"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441448"/>
            <a:ext cx="288036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Đánh giá</a:t>
            </a:r>
          </a:p>
        </p:txBody>
      </p:sp>
      <p:sp>
        <p:nvSpPr>
          <p:cNvPr id="13" name="TextBox 12"/>
          <p:cNvSpPr txBox="1"/>
          <p:nvPr/>
        </p:nvSpPr>
        <p:spPr>
          <a:xfrm>
            <a:off x="4617720" y="3081528"/>
            <a:ext cx="2880360" cy="1508760"/>
          </a:xfrm>
          <a:prstGeom prst="rect">
            <a:avLst/>
          </a:prstGeom>
          <a:noFill/>
        </p:spPr>
        <p:txBody>
          <a:bodyPr wrap="square" lIns="0" rIns="0" tIns="0" bIns="0">
            <a:spAutoFit/>
          </a:bodyPr>
          <a:lstStyle/>
          <a:p>
            <a:pPr>
              <a:spcAft>
                <a:spcPts val="1000"/>
              </a:spcAft>
              <a:defRPr sz="2000" b="0">
                <a:solidFill>
                  <a:srgbClr val="14243D"/>
                </a:solidFill>
                <a:latin typeface="Arial"/>
              </a:defRPr>
            </a:pPr>
            <a:r>
              <a:t>Baseline Contriever gốc</a:t>
            </a:r>
          </a:p>
          <a:p>
            <a:pPr>
              <a:spcAft>
                <a:spcPts val="1000"/>
              </a:spcAft>
              <a:defRPr sz="2000" b="0">
                <a:solidFill>
                  <a:srgbClr val="14243D"/>
                </a:solidFill>
                <a:latin typeface="Arial"/>
              </a:defRPr>
            </a:pPr>
            <a:r>
              <a:t>CE-only / CE+TRPO</a:t>
            </a:r>
          </a:p>
          <a:p>
            <a:pPr>
              <a:spcAft>
                <a:spcPts val="1000"/>
              </a:spcAft>
              <a:defRPr sz="2000" b="0">
                <a:solidFill>
                  <a:srgbClr val="14243D"/>
                </a:solidFill>
                <a:latin typeface="Arial"/>
              </a:defRPr>
            </a:pPr>
            <a:r>
              <a:t>BEIR + temporal qrels</a:t>
            </a:r>
          </a:p>
        </p:txBody>
      </p:sp>
      <p:sp>
        <p:nvSpPr>
          <p:cNvPr id="14" name="Rounded Rectangle 13"/>
          <p:cNvSpPr/>
          <p:nvPr/>
        </p:nvSpPr>
        <p:spPr>
          <a:xfrm>
            <a:off x="7955279" y="2240280"/>
            <a:ext cx="3383280" cy="2423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2441448"/>
            <a:ext cx="2926080" cy="502920"/>
          </a:xfrm>
          <a:prstGeom prst="rect">
            <a:avLst/>
          </a:prstGeom>
          <a:noFill/>
        </p:spPr>
        <p:txBody>
          <a:bodyPr wrap="square" lIns="0" rIns="0" tIns="0" bIns="0">
            <a:spAutoFit/>
          </a:bodyPr>
          <a:lstStyle/>
          <a:p>
            <a:pPr>
              <a:spcAft>
                <a:spcPts val="1000"/>
              </a:spcAft>
              <a:defRPr sz="2100" b="1">
                <a:solidFill>
                  <a:srgbClr val="3767E8"/>
                </a:solidFill>
                <a:latin typeface="Arial"/>
              </a:defRPr>
            </a:pPr>
            <a:r>
              <a:t>Chi phí</a:t>
            </a:r>
          </a:p>
        </p:txBody>
      </p:sp>
      <p:sp>
        <p:nvSpPr>
          <p:cNvPr id="16" name="TextBox 15"/>
          <p:cNvSpPr txBox="1"/>
          <p:nvPr/>
        </p:nvSpPr>
        <p:spPr>
          <a:xfrm>
            <a:off x="8183879" y="3081528"/>
            <a:ext cx="2926080" cy="1508760"/>
          </a:xfrm>
          <a:prstGeom prst="rect">
            <a:avLst/>
          </a:prstGeom>
          <a:noFill/>
        </p:spPr>
        <p:txBody>
          <a:bodyPr wrap="square" lIns="0" rIns="0" tIns="0" bIns="0">
            <a:spAutoFit/>
          </a:bodyPr>
          <a:lstStyle/>
          <a:p>
            <a:pPr>
              <a:spcAft>
                <a:spcPts val="1000"/>
              </a:spcAft>
              <a:defRPr sz="2000" b="0">
                <a:solidFill>
                  <a:srgbClr val="14243D"/>
                </a:solidFill>
                <a:latin typeface="Arial"/>
              </a:defRPr>
            </a:pPr>
            <a:r>
              <a:t>RAM / VRAM</a:t>
            </a:r>
          </a:p>
          <a:p>
            <a:pPr>
              <a:spcAft>
                <a:spcPts val="1000"/>
              </a:spcAft>
              <a:defRPr sz="2000" b="0">
                <a:solidFill>
                  <a:srgbClr val="14243D"/>
                </a:solidFill>
                <a:latin typeface="Arial"/>
              </a:defRPr>
            </a:pPr>
            <a:r>
              <a:t>Train, encode, indexing</a:t>
            </a:r>
          </a:p>
          <a:p>
            <a:pPr>
              <a:spcAft>
                <a:spcPts val="1000"/>
              </a:spcAft>
              <a:defRPr sz="2000" b="0">
                <a:solidFill>
                  <a:srgbClr val="14243D"/>
                </a:solidFill>
                <a:latin typeface="Arial"/>
              </a:defRPr>
            </a:pPr>
            <a:r>
              <a:t>Inference mỗi query</a:t>
            </a:r>
          </a:p>
        </p:txBody>
      </p:sp>
      <p:sp>
        <p:nvSpPr>
          <p:cNvPr id="17" name="TextBox 16"/>
          <p:cNvSpPr txBox="1"/>
          <p:nvPr/>
        </p:nvSpPr>
        <p:spPr>
          <a:xfrm>
            <a:off x="914400" y="5257800"/>
            <a:ext cx="10332720" cy="594360"/>
          </a:xfrm>
          <a:prstGeom prst="rect">
            <a:avLst/>
          </a:prstGeom>
          <a:noFill/>
        </p:spPr>
        <p:txBody>
          <a:bodyPr wrap="square" lIns="0" rIns="0" tIns="0" bIns="0">
            <a:spAutoFit/>
          </a:bodyPr>
          <a:lstStyle/>
          <a:p>
            <a:pPr>
              <a:spcAft>
                <a:spcPts val="1000"/>
              </a:spcAft>
              <a:defRPr sz="2600" b="1">
                <a:solidFill>
                  <a:srgbClr val="3767E8"/>
                </a:solidFill>
                <a:latin typeface="Arial"/>
              </a:defRPr>
            </a:pPr>
            <a:r>
              <a:t>Thí nghiệm nội suy: hai mốc train → một mốc test chưa học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17 / Kết luận và hỏi đáp</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Đã có mã, tài liệu, ảnh demo và bằng chứng có thể chạy lại</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18</a:t>
            </a:r>
          </a:p>
        </p:txBody>
      </p:sp>
      <p:sp>
        <p:nvSpPr>
          <p:cNvPr id="8" name="Rectangle 7"/>
          <p:cNvSpPr/>
          <p:nvPr/>
        </p:nvSpPr>
        <p:spPr>
          <a:xfrm>
            <a:off x="822960" y="230428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241280" cy="731520"/>
          </a:xfrm>
          <a:prstGeom prst="rect">
            <a:avLst/>
          </a:prstGeom>
          <a:noFill/>
        </p:spPr>
        <p:txBody>
          <a:bodyPr wrap="square" lIns="0" rIns="0" tIns="0" bIns="0">
            <a:spAutoFit/>
          </a:bodyPr>
          <a:lstStyle/>
          <a:p>
            <a:pPr>
              <a:spcAft>
                <a:spcPts val="1000"/>
              </a:spcAft>
              <a:defRPr sz="2500" b="0">
                <a:solidFill>
                  <a:srgbClr val="14243D"/>
                </a:solidFill>
                <a:latin typeface="Arial"/>
              </a:defRPr>
            </a:pPr>
            <a:r>
              <a:t>Pipeline PyTorch chạy trên CPU; kiểm tra và checkpoint đạt</a:t>
            </a:r>
          </a:p>
        </p:txBody>
      </p:sp>
      <p:sp>
        <p:nvSpPr>
          <p:cNvPr id="10" name="Rectangle 9"/>
          <p:cNvSpPr/>
          <p:nvPr/>
        </p:nvSpPr>
        <p:spPr>
          <a:xfrm>
            <a:off x="822960" y="3145536"/>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035808"/>
            <a:ext cx="10241280" cy="731520"/>
          </a:xfrm>
          <a:prstGeom prst="rect">
            <a:avLst/>
          </a:prstGeom>
          <a:noFill/>
        </p:spPr>
        <p:txBody>
          <a:bodyPr wrap="square" lIns="0" rIns="0" tIns="0" bIns="0">
            <a:spAutoFit/>
          </a:bodyPr>
          <a:lstStyle/>
          <a:p>
            <a:pPr>
              <a:spcAft>
                <a:spcPts val="1000"/>
              </a:spcAft>
              <a:defRPr sz="2500" b="0">
                <a:solidFill>
                  <a:srgbClr val="14243D"/>
                </a:solidFill>
                <a:latin typeface="Arial"/>
              </a:defRPr>
            </a:pPr>
            <a:r>
              <a:t>Có đối chứng: điểm demo chưa cho thấy TRPO vượt CE</a:t>
            </a:r>
          </a:p>
        </p:txBody>
      </p:sp>
      <p:sp>
        <p:nvSpPr>
          <p:cNvPr id="12" name="Rectangle 11"/>
          <p:cNvSpPr/>
          <p:nvPr/>
        </p:nvSpPr>
        <p:spPr>
          <a:xfrm>
            <a:off x="822960" y="3986784"/>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877056"/>
            <a:ext cx="10241280" cy="731520"/>
          </a:xfrm>
          <a:prstGeom prst="rect">
            <a:avLst/>
          </a:prstGeom>
          <a:noFill/>
        </p:spPr>
        <p:txBody>
          <a:bodyPr wrap="square" lIns="0" rIns="0" tIns="0" bIns="0">
            <a:spAutoFit/>
          </a:bodyPr>
          <a:lstStyle/>
          <a:p>
            <a:pPr>
              <a:spcAft>
                <a:spcPts val="1000"/>
              </a:spcAft>
              <a:defRPr sz="2500" b="0">
                <a:solidFill>
                  <a:srgbClr val="14243D"/>
                </a:solidFill>
                <a:latin typeface="Arial"/>
              </a:defRPr>
            </a:pPr>
            <a:r>
              <a:t>Cần dữ liệu thời gian thực để kiểm chứng nghiên cứu</a:t>
            </a:r>
          </a:p>
        </p:txBody>
      </p:sp>
      <p:sp>
        <p:nvSpPr>
          <p:cNvPr id="14" name="TextBox 13"/>
          <p:cNvSpPr txBox="1"/>
          <p:nvPr/>
        </p:nvSpPr>
        <p:spPr>
          <a:xfrm>
            <a:off x="914400" y="5212080"/>
            <a:ext cx="10332720" cy="777240"/>
          </a:xfrm>
          <a:prstGeom prst="rect">
            <a:avLst/>
          </a:prstGeom>
          <a:noFill/>
        </p:spPr>
        <p:txBody>
          <a:bodyPr wrap="square" lIns="0" rIns="0" tIns="0" bIns="0">
            <a:spAutoFit/>
          </a:bodyPr>
          <a:lstStyle/>
          <a:p>
            <a:pPr>
              <a:spcAft>
                <a:spcPts val="1000"/>
              </a:spcAft>
              <a:defRPr sz="1700" b="0">
                <a:solidFill>
                  <a:srgbClr val="63748A"/>
                </a:solidFill>
                <a:latin typeface="Arial"/>
              </a:defRPr>
            </a:pPr>
            <a:r>
              <a:t>Nguồn: arxiv.org/abs/2606.17664 • github.com/agwaBom/TPOUR</a:t>
            </a:r>
          </a:p>
          <a:p>
            <a:pPr>
              <a:spcAft>
                <a:spcPts val="1000"/>
              </a:spcAft>
              <a:defRPr sz="1700" b="0">
                <a:solidFill>
                  <a:srgbClr val="63748A"/>
                </a:solidFill>
                <a:latin typeface="Arial"/>
              </a:defRPr>
            </a:pPr>
            <a:r>
              <a:t>Repository: github.com/lequangduccode/tpour-trpo-experiments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Rectangle 1"/>
          <p:cNvSpPr/>
          <p:nvPr/>
        </p:nvSpPr>
        <p:spPr>
          <a:xfrm>
            <a:off x="411480" y="438912"/>
            <a:ext cx="91440" cy="41148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515600" cy="292608"/>
          </a:xfrm>
          <a:prstGeom prst="rect">
            <a:avLst/>
          </a:prstGeom>
          <a:noFill/>
        </p:spPr>
        <p:txBody>
          <a:bodyPr wrap="square" lIns="0" rIns="0" tIns="0" bIns="0">
            <a:spAutoFit/>
          </a:bodyPr>
          <a:lstStyle/>
          <a:p>
            <a:pPr>
              <a:spcAft>
                <a:spcPts val="1000"/>
              </a:spcAft>
              <a:defRPr sz="1100" b="1">
                <a:solidFill>
                  <a:srgbClr val="63748A"/>
                </a:solidFill>
                <a:latin typeface="Arial"/>
              </a:defRPr>
            </a:pPr>
            <a:r>
              <a:t>TPOUR / TRPO • NGHIÊN CỨU &amp; THỰC HÀNH</a:t>
            </a:r>
          </a:p>
        </p:txBody>
      </p:sp>
      <p:sp>
        <p:nvSpPr>
          <p:cNvPr id="4" name="TextBox 3"/>
          <p:cNvSpPr txBox="1"/>
          <p:nvPr/>
        </p:nvSpPr>
        <p:spPr>
          <a:xfrm>
            <a:off x="658368" y="758952"/>
            <a:ext cx="10972800" cy="658368"/>
          </a:xfrm>
          <a:prstGeom prst="rect">
            <a:avLst/>
          </a:prstGeom>
          <a:noFill/>
        </p:spPr>
        <p:txBody>
          <a:bodyPr wrap="square" lIns="0" rIns="0" tIns="0" bIns="0">
            <a:spAutoFit/>
          </a:bodyPr>
          <a:lstStyle/>
          <a:p>
            <a:pPr>
              <a:spcAft>
                <a:spcPts val="1000"/>
              </a:spcAft>
              <a:defRPr sz="3100" b="1">
                <a:solidFill>
                  <a:srgbClr val="14243D"/>
                </a:solidFill>
                <a:latin typeface="Arial"/>
              </a:defRPr>
            </a:pPr>
            <a:r>
              <a:t>18 / Tài liệu tham khảo</a:t>
            </a:r>
          </a:p>
        </p:txBody>
      </p:sp>
      <p:sp>
        <p:nvSpPr>
          <p:cNvPr id="5" name="TextBox 4"/>
          <p:cNvSpPr txBox="1"/>
          <p:nvPr/>
        </p:nvSpPr>
        <p:spPr>
          <a:xfrm>
            <a:off x="658368" y="1435608"/>
            <a:ext cx="10972800" cy="475488"/>
          </a:xfrm>
          <a:prstGeom prst="rect">
            <a:avLst/>
          </a:prstGeom>
          <a:noFill/>
        </p:spPr>
        <p:txBody>
          <a:bodyPr wrap="square" lIns="0" rIns="0" tIns="0" bIns="0">
            <a:spAutoFit/>
          </a:bodyPr>
          <a:lstStyle/>
          <a:p>
            <a:pPr>
              <a:spcAft>
                <a:spcPts val="1000"/>
              </a:spcAft>
              <a:defRPr sz="1600" b="0">
                <a:solidFill>
                  <a:srgbClr val="63748A"/>
                </a:solidFill>
                <a:latin typeface="Arial"/>
              </a:defRPr>
            </a:pPr>
            <a:r>
              <a:t>Nguồn thuật toán, mô hình, benchmark và bằng chứng tự đo</a:t>
            </a:r>
          </a:p>
        </p:txBody>
      </p:sp>
      <p:sp>
        <p:nvSpPr>
          <p:cNvPr id="6" name="TextBox 5"/>
          <p:cNvSpPr txBox="1"/>
          <p:nvPr/>
        </p:nvSpPr>
        <p:spPr>
          <a:xfrm>
            <a:off x="658368" y="6455664"/>
            <a:ext cx="10515600" cy="201168"/>
          </a:xfrm>
          <a:prstGeom prst="rect">
            <a:avLst/>
          </a:prstGeom>
          <a:noFill/>
        </p:spPr>
        <p:txBody>
          <a:bodyPr wrap="square" lIns="0" rIns="0" tIns="0" bIns="0">
            <a:spAutoFit/>
          </a:bodyPr>
          <a:lstStyle/>
          <a:p>
            <a:pPr>
              <a:spcAft>
                <a:spcPts val="1000"/>
              </a:spcAft>
              <a:defRPr sz="1000" b="0">
                <a:solidFill>
                  <a:srgbClr val="63748A"/>
                </a:solidFill>
                <a:latin typeface="Arial"/>
              </a:defRPr>
            </a:pPr>
            <a:r>
              <a:t>12/10/2026   |   Demo CPU • Chưa tái lập đầy đủ bài báo</a:t>
            </a:r>
          </a:p>
        </p:txBody>
      </p:sp>
      <p:sp>
        <p:nvSpPr>
          <p:cNvPr id="7" name="TextBox 6"/>
          <p:cNvSpPr txBox="1"/>
          <p:nvPr/>
        </p:nvSpPr>
        <p:spPr>
          <a:xfrm>
            <a:off x="11109960" y="6409944"/>
            <a:ext cx="457200" cy="274320"/>
          </a:xfrm>
          <a:prstGeom prst="rect">
            <a:avLst/>
          </a:prstGeom>
          <a:noFill/>
        </p:spPr>
        <p:txBody>
          <a:bodyPr wrap="square" lIns="0" rIns="0" tIns="0" bIns="0">
            <a:spAutoFit/>
          </a:bodyPr>
          <a:lstStyle/>
          <a:p>
            <a:pPr>
              <a:spcAft>
                <a:spcPts val="1000"/>
              </a:spcAft>
              <a:defRPr sz="1300" b="1">
                <a:solidFill>
                  <a:srgbClr val="3767E8"/>
                </a:solidFill>
                <a:latin typeface="Arial"/>
              </a:defRPr>
            </a:pPr>
            <a:r>
              <a:t>19</a:t>
            </a:r>
          </a:p>
        </p:txBody>
      </p:sp>
      <p:sp>
        <p:nvSpPr>
          <p:cNvPr id="8" name="Rectangle 7"/>
          <p:cNvSpPr/>
          <p:nvPr/>
        </p:nvSpPr>
        <p:spPr>
          <a:xfrm>
            <a:off x="822960" y="216712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057400"/>
            <a:ext cx="10241280" cy="484632"/>
          </a:xfrm>
          <a:prstGeom prst="rect">
            <a:avLst/>
          </a:prstGeom>
          <a:noFill/>
        </p:spPr>
        <p:txBody>
          <a:bodyPr wrap="square" lIns="0" rIns="0" tIns="0" bIns="0">
            <a:spAutoFit/>
          </a:bodyPr>
          <a:lstStyle/>
          <a:p>
            <a:pPr>
              <a:spcAft>
                <a:spcPts val="1000"/>
              </a:spcAft>
              <a:defRPr sz="2000" b="0">
                <a:solidFill>
                  <a:srgbClr val="14243D"/>
                </a:solidFill>
                <a:latin typeface="Arial"/>
              </a:defRPr>
            </a:pPr>
            <a:r>
              <a:t>[1] Kim và cộng sự, TPOUR (2026) — arxiv.org/abs/2606.17664</a:t>
            </a:r>
          </a:p>
        </p:txBody>
      </p:sp>
      <p:sp>
        <p:nvSpPr>
          <p:cNvPr id="10" name="Rectangle 9"/>
          <p:cNvSpPr/>
          <p:nvPr/>
        </p:nvSpPr>
        <p:spPr>
          <a:xfrm>
            <a:off x="822960" y="276148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651760"/>
            <a:ext cx="10241280" cy="484632"/>
          </a:xfrm>
          <a:prstGeom prst="rect">
            <a:avLst/>
          </a:prstGeom>
          <a:noFill/>
        </p:spPr>
        <p:txBody>
          <a:bodyPr wrap="square" lIns="0" rIns="0" tIns="0" bIns="0">
            <a:spAutoFit/>
          </a:bodyPr>
          <a:lstStyle/>
          <a:p>
            <a:pPr>
              <a:spcAft>
                <a:spcPts val="1000"/>
              </a:spcAft>
              <a:defRPr sz="2000" b="0">
                <a:solidFill>
                  <a:srgbClr val="14243D"/>
                </a:solidFill>
                <a:latin typeface="Arial"/>
              </a:defRPr>
            </a:pPr>
            <a:r>
              <a:t>[2] Code chính thức — github.com/agwaBom/TPOUR</a:t>
            </a:r>
          </a:p>
        </p:txBody>
      </p:sp>
      <p:sp>
        <p:nvSpPr>
          <p:cNvPr id="12" name="Rectangle 11"/>
          <p:cNvSpPr/>
          <p:nvPr/>
        </p:nvSpPr>
        <p:spPr>
          <a:xfrm>
            <a:off x="822960" y="335584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246120"/>
            <a:ext cx="10241280" cy="484632"/>
          </a:xfrm>
          <a:prstGeom prst="rect">
            <a:avLst/>
          </a:prstGeom>
          <a:noFill/>
        </p:spPr>
        <p:txBody>
          <a:bodyPr wrap="square" lIns="0" rIns="0" tIns="0" bIns="0">
            <a:spAutoFit/>
          </a:bodyPr>
          <a:lstStyle/>
          <a:p>
            <a:pPr>
              <a:spcAft>
                <a:spcPts val="1000"/>
              </a:spcAft>
              <a:defRPr sz="2000" b="0">
                <a:solidFill>
                  <a:srgbClr val="14243D"/>
                </a:solidFill>
                <a:latin typeface="Arial"/>
              </a:defRPr>
            </a:pPr>
            <a:r>
              <a:t>[3] Contriever — arxiv.org/abs/2112.09118</a:t>
            </a:r>
          </a:p>
        </p:txBody>
      </p:sp>
      <p:sp>
        <p:nvSpPr>
          <p:cNvPr id="14" name="Rectangle 13"/>
          <p:cNvSpPr/>
          <p:nvPr/>
        </p:nvSpPr>
        <p:spPr>
          <a:xfrm>
            <a:off x="822960" y="395020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840480"/>
            <a:ext cx="10241280" cy="484632"/>
          </a:xfrm>
          <a:prstGeom prst="rect">
            <a:avLst/>
          </a:prstGeom>
          <a:noFill/>
        </p:spPr>
        <p:txBody>
          <a:bodyPr wrap="square" lIns="0" rIns="0" tIns="0" bIns="0">
            <a:spAutoFit/>
          </a:bodyPr>
          <a:lstStyle/>
          <a:p>
            <a:pPr>
              <a:spcAft>
                <a:spcPts val="1000"/>
              </a:spcAft>
              <a:defRPr sz="2000" b="0">
                <a:solidFill>
                  <a:srgbClr val="14243D"/>
                </a:solidFill>
                <a:latin typeface="Arial"/>
              </a:defRPr>
            </a:pPr>
            <a:r>
              <a:t>[4] BEIR — arxiv.org/abs/2104.08663</a:t>
            </a:r>
          </a:p>
        </p:txBody>
      </p:sp>
      <p:sp>
        <p:nvSpPr>
          <p:cNvPr id="16" name="Rectangle 15"/>
          <p:cNvSpPr/>
          <p:nvPr/>
        </p:nvSpPr>
        <p:spPr>
          <a:xfrm>
            <a:off x="822960" y="4544568"/>
            <a:ext cx="91440" cy="91440"/>
          </a:xfrm>
          <a:prstGeom prst="rect">
            <a:avLst/>
          </a:prstGeom>
          <a:solidFill>
            <a:srgbClr val="376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34840"/>
            <a:ext cx="10241280" cy="484632"/>
          </a:xfrm>
          <a:prstGeom prst="rect">
            <a:avLst/>
          </a:prstGeom>
          <a:noFill/>
        </p:spPr>
        <p:txBody>
          <a:bodyPr wrap="square" lIns="0" rIns="0" tIns="0" bIns="0">
            <a:spAutoFit/>
          </a:bodyPr>
          <a:lstStyle/>
          <a:p>
            <a:pPr>
              <a:spcAft>
                <a:spcPts val="1000"/>
              </a:spcAft>
              <a:defRPr sz="2000" b="0">
                <a:solidFill>
                  <a:srgbClr val="14243D"/>
                </a:solidFill>
                <a:latin typeface="Arial"/>
              </a:defRPr>
            </a:pPr>
            <a:r>
              <a:t>[5] DPO — arxiv.org/abs/2305.18290</a:t>
            </a:r>
          </a:p>
        </p:txBody>
      </p:sp>
      <p:sp>
        <p:nvSpPr>
          <p:cNvPr id="18" name="TextBox 17"/>
          <p:cNvSpPr txBox="1"/>
          <p:nvPr/>
        </p:nvSpPr>
        <p:spPr>
          <a:xfrm>
            <a:off x="914400" y="5349240"/>
            <a:ext cx="10332720" cy="731520"/>
          </a:xfrm>
          <a:prstGeom prst="rect">
            <a:avLst/>
          </a:prstGeom>
          <a:noFill/>
        </p:spPr>
        <p:txBody>
          <a:bodyPr wrap="square" lIns="0" rIns="0" tIns="0" bIns="0">
            <a:spAutoFit/>
          </a:bodyPr>
          <a:lstStyle/>
          <a:p>
            <a:pPr>
              <a:spcAft>
                <a:spcPts val="1000"/>
              </a:spcAft>
              <a:defRPr sz="1800" b="0">
                <a:solidFill>
                  <a:srgbClr val="63748A"/>
                </a:solidFill>
                <a:latin typeface="Arial"/>
              </a:defRPr>
            </a:pPr>
            <a:r>
              <a:t>Bằng chứng tự đo: reports/evidence • results/contriever_smoke</a:t>
            </a:r>
          </a:p>
          <a:p>
            <a:pPr>
              <a:spcAft>
                <a:spcPts val="1000"/>
              </a:spcAft>
              <a:defRPr sz="1800" b="0">
                <a:solidFill>
                  <a:srgbClr val="63748A"/>
                </a:solidFill>
                <a:latin typeface="Arial"/>
              </a:defRPr>
            </a:pPr>
            <a:r>
              <a:t>Repo public: github.com/lequangduccode/tpour-trpo-experiments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TPOUR/TRPO — Phân tích và thử nghiệm</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