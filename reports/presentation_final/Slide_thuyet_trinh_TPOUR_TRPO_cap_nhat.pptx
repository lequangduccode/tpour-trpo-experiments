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Nhóm tìm hiểu truy xuất thông tin có yếu tố thời gian. Em trình bày phương pháp của bài báo, phần nhóm đã triển khai và một biến thể giữ kiến thức đã được kiểm chứng. Kết quả có lợi trên SciFact so với TRPO nhưng còn đánh đổi. Thời lượng gợi ý 12–15 phút cho slide 1–19; slide 20–23 dùng khi hỏi.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là tình huống giả định, không phải dữ liệu benchmark. Tài liệu giống chủ đề chưa chắc đáp ứng đúng mốc. Một quy định cũ vẫn có nhiều từ giống truy vấn về quy định mới. Bài toán cần học sự ưu tiên giữa tài liệu đúng mốc và lệch mốc.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đúng tên tác giả. Bản PDF nhóm chọn ghi ICML 2026/PMLR 306, lưu trong upstream. TRPO ở đây là Temporal Retrieval Preference Optimization, không phải Trust Region Policy Optimization. Bài báo còn có nội suy time embedding; nhóm chưa tái lập toàn bộ.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biệt rõ ba lớp công việc. Chạy toy chỉ xác nhận pipeline; bản hiện tại đã chuyển dữ liệu thật và thêm biến thể objective. Không lấy nDCG bằng 1 trên toy hoặc 0,74472 trên subset 30 query làm bằng chứng cho full SciFact.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là mẫu Wikipedia tác giả phát hành, không phải tự tái khai phá toàn bộ snapshot. Trong 3.000 dòng loại 4 thiếu context và 4 cặp giống nhau. Exact-text connected split giảm trùng nguyên văn nhưng không bảo đảm loại trùng bài hoặc diễn đạt lại. Held-out preference có nhãn mined, chưa phải temporal gold.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 là mạng được optimizer cập nhật. Reference không nhận gradient và theo student bằng EMA, tham gia preference gap và queue. Teacher là bản Contriever khởi tạo đóng băng, không EMA, chỉ có trong biến thể nhóm. Cả ba nhận các đầu vào theo protocol; suy luận chỉ dùng student.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nghiệm dữ liệu thật lần đầu cho thấy TRPO giảm SciFact so với Contriever. Giả thuyết hẹp là thêm mốc hành vi ban đầu sẽ hạn chế suy giảm retrieval tổng quát. Chưa chứng minh catastrophic forgetting là nguyên nhân duy nhất. Teacher cũng có thể giữ thông tin cũ, nên phải đo đánh đổi.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công thức theo từng phần. Hai hạng đầu là CE và TRPO của bản thực hành; nhóm thêm retention gồm ranking KL và relative embedding MSE. KL dùng cosine softmax trên 2B candidates, temperature 0,1; MSE giữ hướng và norm. Các tham số cố định trước lần chạy mới, nhưng SciFact đã được biết trước khi thiết kế nên vẫn có thiên lệch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luồng dữ liệu để cô thấy nhóm hiểu code. Batch size 4 tạo ma trận ranking distillation 4×8. AMP có 5 bước không hợp lệ bị bỏ; chỉ cập nhật scheduler/EMA/queue khi optimizer step hợp lệ. Inference kiểm tra cache theo hash và tính dot product exact trên corpus.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nhánh dùng một T4; hai GPU có thể chạy hai nhánh song song, không phải một run distributed. Cùng dữ liệu, tokenizer, dot product và training budget. Mọi run retention mới và TRPO đối chứng có 995 cập nhật thực trên 1.000 lần thử. Baseline không fine-tune; only KL ablation chỉ seed42.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nDCG@10 đánh giá thứ tự các tài liệu liên quan trong top 10, không phải tỷ lệ phần trăm trả lời đúng. Các error bar là sample SD giữa ba seed; baseline cố định. Retention tăng 0,02872 so với TRPO nhưng vẫn thấp hơn baseline 0,01028. Đây là kết luận chính phải giữ cả hai vế.</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chênh lệch cùng dương. CI là paired bootstrap 5.000 lần theo query, không phải CI trên mọi lần huấn luyện hay mọi dataset. Việc CI dương ở ba seed hỗ trợ kết luận trong cấu hình này, chưa loại bias thiết kế do đã biết SciFact.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Held-out pairwise accuracy kiểm tra score preferred lớn hơn rejected trên 449 bộ ba mined. Cả hai thấp hơn 0,5; cần kiểm tra nhãn, độ khó và pipeline thay vì coi proxy là temporal gold. Kết quả này ngăn nhóm khẳng định cải thiện toàn diện về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KL seed42 đạt 0,62870, full 0,63082; delta 0,00212 nhưng CI chứa 0. Không chứng minh MSE vô dụng, cũng chưa chứng minh cần thiết. Train time không gồm tải model, warmup queue, evaluate; peak allocated không phải toàn VRAM. Chi phí tăng trong train do teacher.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JSON từ job inference đã chạy, không phải đang trực tiếp gọi GPU trong slide. Muốn demo trực tiếp mở notebook TPOUR_live_checkpoint_demo và chạy cell query. Bốn nhánh khớp top3 query1 với ranking đã lưu, max score error 4,77e-7; ba checkpoint fine-tune có hash khớp. Query mới dưới đây chưa có gold, chỉ minh họa sử dụng.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ví dụ chọn sau đánh giá: query1282 cải thiện lớn nhất và query314 giảm lớn nhất seed42. Không dùng các ví dụ được chọn để đại diện toàn test. Baseline gốc cũng đưa gold của query1282 lên hạng1. Các câu SciFact là benchmark truy xuất, không phải tư vấn y tế.</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phần triển khai có thể kiểm tra và phần phương pháp thử thêm. Không nói nhóm phát minh KD hoặc đã chứng minh paper. Chưa có temporal gold, chưa full scale, chưa kiểm tra benchmark mới. 14 tests là kiểm tra các trường hợp cụ thể chứ không bảo đảm mọi đầu vào đúng.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 hoạch, chưa thực hiện. Ưu tiên thẩm định nhãn và test thời gian, tiếp đến benchmark chưa dùng khi thiết kế và ablation nhiều seed. Sau đó mới thử retention có điều kiện; phải chọn cấu hình trên validation và giữ test độc lập. Không thêm độ phức tạp chỉ để có tên phương pháp mới.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thúc bằng ba ý. Đồ án đã vượt demo mock để có thực nghiệm thật và bằng chứng. Biến thể làm giảm mất chất lượng SciFact so với TRPO. Nhưng chưa vượt baseline, proxy giảm, nên kết luận chỉ trong phạm vi đã đo. Dừng ở slide này; các slide sau dành cho hỏi đáp.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cô hỏi: reference EMA phục vụ preference objective và di chuyển theo student; teacher cố định bảo tồn hành vi khởi tạo. Cả hai không nhận gradient trực tiếp nhưng cách cập nhật khác nhau. Khi inference chỉ student. Không cần mở slide này nếu không được hỏi.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trả lời ngắn: có ý nghĩa như thí nghiệm hạn chế suy giảm so với TRPO dưới cùng protocol, không phải giải pháp tốt nhất cho SciFact. Muốn khẳng định tác dụng thời gian phải có temporal gold. Phải thừa nhận biết SciFact trước khi thiết kế nên cần benchmark mới.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checkpoint đúng run và corpus trước buổi nói để tránh chờ lập chỉ mục. Chạy query1 để đối chiếu ranking, rồi thử query mới. Nếu không có GPU/kết nối, dùng JSON đã lưu và nói rõ đó là replay. Không giả vờ video/ảnh là phiên inference đang chạy.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gốc nằm trong repo, cùng PDF đã chọn. Notebook Kaggle có thể cần quyền tài khoản; JSON/log/notebook source công khai trong GitHub cho phép đọc bằng chứng. Slide 1–19 là phần trình bày chính; 20–23 là phụ lục.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TPOUR / TRPO</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Học phần Tìm kiếm và Truy xuất thông tin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a:t>
            </a:r>
          </a:p>
        </p:txBody>
      </p:sp>
      <p:sp>
        <p:nvSpPr>
          <p:cNvPr id="6" name="TextBox 5"/>
          <p:cNvSpPr txBox="1"/>
          <p:nvPr/>
        </p:nvSpPr>
        <p:spPr>
          <a:xfrm>
            <a:off x="777240" y="1645920"/>
            <a:ext cx="10515600" cy="1508760"/>
          </a:xfrm>
          <a:prstGeom prst="rect">
            <a:avLst/>
          </a:prstGeom>
          <a:noFill/>
        </p:spPr>
        <p:txBody>
          <a:bodyPr wrap="square" lIns="27432" rIns="27432" tIns="18288" bIns="18288">
            <a:spAutoFit/>
          </a:bodyPr>
          <a:lstStyle/>
          <a:p>
            <a:pPr>
              <a:spcAft>
                <a:spcPts val="1000"/>
              </a:spcAft>
              <a:defRPr sz="3700" b="1">
                <a:solidFill>
                  <a:srgbClr val="202A32"/>
                </a:solidFill>
                <a:latin typeface="Arial"/>
              </a:defRPr>
            </a:pPr>
            <a:r>
              <a:t>Thực nghiệm dữ liệu thật</a:t>
            </a:r>
          </a:p>
          <a:p>
            <a:pPr>
              <a:spcAft>
                <a:spcPts val="1000"/>
              </a:spcAft>
              <a:defRPr sz="3700" b="1">
                <a:solidFill>
                  <a:srgbClr val="202A32"/>
                </a:solidFill>
                <a:latin typeface="Arial"/>
              </a:defRPr>
            </a:pPr>
            <a:r>
              <a:t>và biến thể giữ kiến thức</a:t>
            </a:r>
          </a:p>
        </p:txBody>
      </p:sp>
      <p:sp>
        <p:nvSpPr>
          <p:cNvPr id="7" name="TextBox 6"/>
          <p:cNvSpPr txBox="1"/>
          <p:nvPr/>
        </p:nvSpPr>
        <p:spPr>
          <a:xfrm>
            <a:off x="822960" y="3703320"/>
            <a:ext cx="10515600" cy="548640"/>
          </a:xfrm>
          <a:prstGeom prst="rect">
            <a:avLst/>
          </a:prstGeom>
          <a:noFill/>
        </p:spPr>
        <p:txBody>
          <a:bodyPr wrap="square" lIns="27432" rIns="27432" tIns="18288" bIns="18288">
            <a:spAutoFit/>
          </a:bodyPr>
          <a:lstStyle/>
          <a:p>
            <a:pPr>
              <a:spcAft>
                <a:spcPts val="1000"/>
              </a:spcAft>
              <a:defRPr sz="2400" b="0">
                <a:solidFill>
                  <a:srgbClr val="59636D"/>
                </a:solidFill>
                <a:latin typeface="Arial"/>
              </a:defRPr>
            </a:pPr>
            <a:r>
              <a:t>Bài báo → Cài đặt → Đối chứng → Demo → Kết luận</a:t>
            </a:r>
          </a:p>
        </p:txBody>
      </p:sp>
      <p:sp>
        <p:nvSpPr>
          <p:cNvPr id="8" name="TextBox 7"/>
          <p:cNvSpPr txBox="1"/>
          <p:nvPr/>
        </p:nvSpPr>
        <p:spPr>
          <a:xfrm>
            <a:off x="822960" y="4892040"/>
            <a:ext cx="10515600" cy="548640"/>
          </a:xfrm>
          <a:prstGeom prst="rect">
            <a:avLst/>
          </a:prstGeom>
          <a:noFill/>
        </p:spPr>
        <p:txBody>
          <a:bodyPr wrap="square" lIns="27432" rIns="27432" tIns="18288" bIns="18288">
            <a:spAutoFit/>
          </a:bodyPr>
          <a:lstStyle/>
          <a:p>
            <a:pPr>
              <a:spcAft>
                <a:spcPts val="1000"/>
              </a:spcAft>
              <a:defRPr sz="2200" b="0">
                <a:solidFill>
                  <a:srgbClr val="233E57"/>
                </a:solidFill>
                <a:latin typeface="Arial"/>
              </a:defRPr>
            </a:pPr>
            <a:r>
              <a:t>Mẫu Wikipedia của tác giả · SciFact · Kaggle T4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 Vì sao cần quan tâm đến thời gian?</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Ví dụ minh họa của nhóm · Không dùng để đánh giá mô hình</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2</a:t>
            </a:r>
          </a:p>
        </p:txBody>
      </p:sp>
      <p:sp>
        <p:nvSpPr>
          <p:cNvPr id="6" name="TextBox 5"/>
          <p:cNvSpPr txBox="1"/>
          <p:nvPr/>
        </p:nvSpPr>
        <p:spPr>
          <a:xfrm>
            <a:off x="822960" y="1417320"/>
            <a:ext cx="10515600" cy="731520"/>
          </a:xfrm>
          <a:prstGeom prst="rect">
            <a:avLst/>
          </a:prstGeom>
          <a:noFill/>
        </p:spPr>
        <p:txBody>
          <a:bodyPr wrap="square" lIns="27432" rIns="27432" tIns="18288" bIns="18288">
            <a:spAutoFit/>
          </a:bodyPr>
          <a:lstStyle/>
          <a:p>
            <a:pPr>
              <a:spcAft>
                <a:spcPts val="1000"/>
              </a:spcAft>
              <a:defRPr sz="2900" b="1">
                <a:solidFill>
                  <a:srgbClr val="202A32"/>
                </a:solidFill>
                <a:latin typeface="Arial"/>
              </a:defRPr>
            </a:pPr>
            <a:r>
              <a:t>“Quy trình của tổ chức X năm 2020 là gì?”</a:t>
            </a:r>
          </a:p>
        </p:txBody>
      </p:sp>
      <p:graphicFrame>
        <p:nvGraphicFramePr>
          <p:cNvPr id="7" name="Table 6"/>
          <p:cNvGraphicFramePr>
            <a:graphicFrameLocks noGrp="1"/>
          </p:cNvGraphicFramePr>
          <p:nvPr/>
        </p:nvGraphicFramePr>
        <p:xfrm>
          <a:off x="777240" y="2560320"/>
          <a:ext cx="10607040" cy="2194560"/>
        </p:xfrm>
        <a:graphic>
          <a:graphicData uri="http://schemas.openxmlformats.org/drawingml/2006/table">
            <a:tbl>
              <a:tblPr firstRow="1" bandRow="1">
                <a:tableStyleId>{5C22544A-7EE6-4342-B048-85BDC9FD1C3A}</a:tableStyleId>
              </a:tblPr>
              <a:tblGrid>
                <a:gridCol w="2011680"/>
                <a:gridCol w="3931920"/>
                <a:gridCol w="4663440"/>
              </a:tblGrid>
              <a:tr h="731520">
                <a:tc>
                  <a:txBody>
                    <a:bodyPr/>
                    <a:lstStyle/>
                    <a:p>
                      <a:pPr>
                        <a:defRPr sz="2200" b="1">
                          <a:solidFill>
                            <a:srgbClr val="FFFFFF"/>
                          </a:solidFill>
                          <a:latin typeface="Arial"/>
                        </a:defRPr>
                      </a:pPr>
                      <a:r>
                        <a:t>Tài liệu</a:t>
                      </a:r>
                    </a:p>
                  </a:txBody>
                  <a:tcPr marL="109728" marT="82296">
                    <a:solidFill>
                      <a:srgbClr val="233E57"/>
                    </a:solidFill>
                  </a:tcPr>
                </a:tc>
                <a:tc>
                  <a:txBody>
                    <a:bodyPr/>
                    <a:lstStyle/>
                    <a:p>
                      <a:pPr>
                        <a:defRPr sz="2200" b="1">
                          <a:solidFill>
                            <a:srgbClr val="FFFFFF"/>
                          </a:solidFill>
                          <a:latin typeface="Arial"/>
                        </a:defRPr>
                      </a:pPr>
                      <a:r>
                        <a:t>Nội dung</a:t>
                      </a:r>
                    </a:p>
                  </a:txBody>
                  <a:tcPr marL="109728" marT="82296">
                    <a:solidFill>
                      <a:srgbClr val="233E57"/>
                    </a:solidFill>
                  </a:tcPr>
                </a:tc>
                <a:tc>
                  <a:txBody>
                    <a:bodyPr/>
                    <a:lstStyle/>
                    <a:p>
                      <a:pPr>
                        <a:defRPr sz="2200" b="1">
                          <a:solidFill>
                            <a:srgbClr val="FFFFFF"/>
                          </a:solidFill>
                          <a:latin typeface="Arial"/>
                        </a:defRPr>
                      </a:pPr>
                      <a:r>
                        <a:t>Vấn đề</a:t>
                      </a:r>
                    </a:p>
                  </a:txBody>
                  <a:tcPr marL="109728" marT="82296">
                    <a:solidFill>
                      <a:srgbClr val="233E57"/>
                    </a:solidFill>
                  </a:tcPr>
                </a:tc>
              </a:tr>
              <a:tr h="731520">
                <a:tc>
                  <a:txBody>
                    <a:bodyPr/>
                    <a:lstStyle/>
                    <a:p>
                      <a:pPr>
                        <a:defRPr sz="2200" b="0">
                          <a:solidFill>
                            <a:srgbClr val="202A32"/>
                          </a:solidFill>
                          <a:latin typeface="Arial"/>
                        </a:defRPr>
                      </a:pPr>
                      <a:r>
                        <a:t>Bản năm 2018</a:t>
                      </a:r>
                    </a:p>
                  </a:txBody>
                  <a:tcPr marL="109728" marT="82296">
                    <a:solidFill>
                      <a:srgbClr val="F0F3F5"/>
                    </a:solidFill>
                  </a:tcPr>
                </a:tc>
                <a:tc>
                  <a:txBody>
                    <a:bodyPr/>
                    <a:lstStyle/>
                    <a:p>
                      <a:pPr>
                        <a:defRPr sz="2200" b="0">
                          <a:solidFill>
                            <a:srgbClr val="202A32"/>
                          </a:solidFill>
                          <a:latin typeface="Arial"/>
                        </a:defRPr>
                      </a:pPr>
                      <a:r>
                        <a:t>Cùng chủ đề, phiên bản cũ</a:t>
                      </a:r>
                    </a:p>
                  </a:txBody>
                  <a:tcPr marL="109728" marT="82296">
                    <a:solidFill>
                      <a:srgbClr val="F0F3F5"/>
                    </a:solidFill>
                  </a:tcPr>
                </a:tc>
                <a:tc>
                  <a:txBody>
                    <a:bodyPr/>
                    <a:lstStyle/>
                    <a:p>
                      <a:pPr>
                        <a:defRPr sz="2200" b="0">
                          <a:solidFill>
                            <a:srgbClr val="202A32"/>
                          </a:solidFill>
                          <a:latin typeface="Arial"/>
                        </a:defRPr>
                      </a:pPr>
                      <a:r>
                        <a:t>Có thể rất gần ngữ nghĩa</a:t>
                      </a:r>
                    </a:p>
                  </a:txBody>
                  <a:tcPr marL="109728" marT="82296">
                    <a:solidFill>
                      <a:srgbClr val="F0F3F5"/>
                    </a:solidFill>
                  </a:tcPr>
                </a:tc>
              </a:tr>
              <a:tr h="731520">
                <a:tc>
                  <a:txBody>
                    <a:bodyPr/>
                    <a:lstStyle/>
                    <a:p>
                      <a:pPr>
                        <a:defRPr sz="2200" b="0">
                          <a:solidFill>
                            <a:srgbClr val="202A32"/>
                          </a:solidFill>
                          <a:latin typeface="Arial"/>
                        </a:defRPr>
                      </a:pPr>
                      <a:r>
                        <a:t>Bản năm 2020</a:t>
                      </a:r>
                    </a:p>
                  </a:txBody>
                  <a:tcPr marL="109728" marT="82296">
                    <a:solidFill>
                      <a:srgbClr val="FFFFFF"/>
                    </a:solidFill>
                  </a:tcPr>
                </a:tc>
                <a:tc>
                  <a:txBody>
                    <a:bodyPr/>
                    <a:lstStyle/>
                    <a:p>
                      <a:pPr>
                        <a:defRPr sz="2200" b="0">
                          <a:solidFill>
                            <a:srgbClr val="202A32"/>
                          </a:solidFill>
                          <a:latin typeface="Arial"/>
                        </a:defRPr>
                      </a:pPr>
                      <a:r>
                        <a:t>Cùng chủ đề, đúng mốc</a:t>
                      </a:r>
                    </a:p>
                  </a:txBody>
                  <a:tcPr marL="109728" marT="82296">
                    <a:solidFill>
                      <a:srgbClr val="FFFFFF"/>
                    </a:solidFill>
                  </a:tcPr>
                </a:tc>
                <a:tc>
                  <a:txBody>
                    <a:bodyPr/>
                    <a:lstStyle/>
                    <a:p>
                      <a:pPr>
                        <a:defRPr sz="2200" b="0">
                          <a:solidFill>
                            <a:srgbClr val="202A32"/>
                          </a:solidFill>
                          <a:latin typeface="Arial"/>
                        </a:defRPr>
                      </a:pPr>
                      <a:r>
                        <a:t>Cần được ưu tiên</a:t>
                      </a:r>
                    </a:p>
                  </a:txBody>
                  <a:tcPr marL="109728" marT="82296">
                    <a:solidFill>
                      <a:srgbClr val="FFFFFF"/>
                    </a:solidFill>
                  </a:tcPr>
                </a:tc>
              </a:tr>
            </a:tbl>
          </a:graphicData>
        </a:graphic>
      </p:graphicFrame>
      <p:sp>
        <p:nvSpPr>
          <p:cNvPr id="8" name="Rectangle 7"/>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Đúng chủ đề chưa đủ; còn phải phù hợp mốc truy vấn.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2. Bài báo nhóm chọn đề xuất gì?</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[1] Temporal Preference Optimization for Unsupervised Retrieval · PDF nhóm chọn, mục 3</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3</a:t>
            </a:r>
          </a:p>
        </p:txBody>
      </p:sp>
      <p:sp>
        <p:nvSpPr>
          <p:cNvPr id="6" name="TextBox 5"/>
          <p:cNvSpPr txBox="1"/>
          <p:nvPr/>
        </p:nvSpPr>
        <p:spPr>
          <a:xfrm>
            <a:off x="822960" y="1325880"/>
            <a:ext cx="10515600" cy="731520"/>
          </a:xfrm>
          <a:prstGeom prst="rect">
            <a:avLst/>
          </a:prstGeom>
          <a:noFill/>
        </p:spPr>
        <p:txBody>
          <a:bodyPr wrap="square" lIns="27432" rIns="27432" tIns="18288" bIns="18288">
            <a:spAutoFit/>
          </a:bodyPr>
          <a:lstStyle/>
          <a:p>
            <a:pPr>
              <a:spcAft>
                <a:spcPts val="1000"/>
              </a:spcAft>
              <a:defRPr sz="2500" b="1">
                <a:solidFill>
                  <a:srgbClr val="202A32"/>
                </a:solidFill>
                <a:latin typeface="Arial"/>
              </a:defRPr>
            </a:pPr>
            <a:r>
              <a:t>Temporal Preference Optimization for Unsupervised Retrieval</a:t>
            </a:r>
          </a:p>
        </p:txBody>
      </p:sp>
      <p:sp>
        <p:nvSpPr>
          <p:cNvPr id="7" name="TextBox 6"/>
          <p:cNvSpPr txBox="1"/>
          <p:nvPr/>
        </p:nvSpPr>
        <p:spPr>
          <a:xfrm>
            <a:off x="822960" y="2103120"/>
            <a:ext cx="10515600" cy="457200"/>
          </a:xfrm>
          <a:prstGeom prst="rect">
            <a:avLst/>
          </a:prstGeom>
          <a:noFill/>
        </p:spPr>
        <p:txBody>
          <a:bodyPr wrap="square" lIns="27432" rIns="27432" tIns="18288" bIns="18288">
            <a:spAutoFit/>
          </a:bodyPr>
          <a:lstStyle/>
          <a:p>
            <a:pPr>
              <a:spcAft>
                <a:spcPts val="1000"/>
              </a:spcAft>
              <a:defRPr sz="2000" b="0">
                <a:solidFill>
                  <a:srgbClr val="59636D"/>
                </a:solidFill>
                <a:latin typeface="Arial"/>
              </a:defRPr>
            </a:pPr>
            <a:r>
              <a:t>HyunJin Kim · Jaejun Shim · Young Jin Kim · JinYeong Bak</a:t>
            </a:r>
          </a:p>
        </p:txBody>
      </p:sp>
      <p:sp>
        <p:nvSpPr>
          <p:cNvPr id="8" name="TextBox 7"/>
          <p:cNvSpPr txBox="1"/>
          <p:nvPr/>
        </p:nvSpPr>
        <p:spPr>
          <a:xfrm>
            <a:off x="777240" y="2926080"/>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9" name="TextBox 8"/>
          <p:cNvSpPr txBox="1"/>
          <p:nvPr/>
        </p:nvSpPr>
        <p:spPr>
          <a:xfrm>
            <a:off x="1097280" y="2926080"/>
            <a:ext cx="10287000" cy="64008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Dùng tín hiệu ưu tiên giữa tài liệu khớp và lệch mốc.</a:t>
            </a:r>
          </a:p>
        </p:txBody>
      </p:sp>
      <p:sp>
        <p:nvSpPr>
          <p:cNvPr id="10" name="TextBox 9"/>
          <p:cNvSpPr txBox="1"/>
          <p:nvPr/>
        </p:nvSpPr>
        <p:spPr>
          <a:xfrm>
            <a:off x="777240" y="3657600"/>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11" name="TextBox 10"/>
          <p:cNvSpPr txBox="1"/>
          <p:nvPr/>
        </p:nvSpPr>
        <p:spPr>
          <a:xfrm>
            <a:off x="1097280" y="3657600"/>
            <a:ext cx="10287000" cy="64008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Kết hợp contrastive loss với TRPO.</a:t>
            </a:r>
          </a:p>
        </p:txBody>
      </p:sp>
      <p:sp>
        <p:nvSpPr>
          <p:cNvPr id="12" name="TextBox 11"/>
          <p:cNvSpPr txBox="1"/>
          <p:nvPr/>
        </p:nvSpPr>
        <p:spPr>
          <a:xfrm>
            <a:off x="777240" y="4389120"/>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13" name="TextBox 12"/>
          <p:cNvSpPr txBox="1"/>
          <p:nvPr/>
        </p:nvSpPr>
        <p:spPr>
          <a:xfrm>
            <a:off x="1097280" y="4389120"/>
            <a:ext cx="10287000" cy="64008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Dùng reference momentum và negative queue.</a:t>
            </a:r>
          </a:p>
        </p:txBody>
      </p:sp>
      <p:sp>
        <p:nvSpPr>
          <p:cNvPr id="14" name="Rectangle 13"/>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Nhóm triển khai bản gọn; chưa tái lập toàn bộ temporal QA và time interpolation.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3. Nhóm đã làm đến đâu?</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Báo cáo Chương 3–5 · tpour.py / real_experiment.py / anchored_tpour.py</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4</a:t>
            </a:r>
          </a:p>
        </p:txBody>
      </p:sp>
      <p:graphicFrame>
        <p:nvGraphicFramePr>
          <p:cNvPr id="6" name="Table 5"/>
          <p:cNvGraphicFramePr>
            <a:graphicFrameLocks noGrp="1"/>
          </p:cNvGraphicFramePr>
          <p:nvPr/>
        </p:nvGraphicFramePr>
        <p:xfrm>
          <a:off x="777240" y="1554480"/>
          <a:ext cx="10607040" cy="3749039"/>
        </p:xfrm>
        <a:graphic>
          <a:graphicData uri="http://schemas.openxmlformats.org/drawingml/2006/table">
            <a:tbl>
              <a:tblPr firstRow="1" bandRow="1">
                <a:tableStyleId>{5C22544A-7EE6-4342-B048-85BDC9FD1C3A}</a:tableStyleId>
              </a:tblPr>
              <a:tblGrid>
                <a:gridCol w="2834640"/>
                <a:gridCol w="7772400"/>
              </a:tblGrid>
              <a:tr h="749807">
                <a:tc>
                  <a:txBody>
                    <a:bodyPr/>
                    <a:lstStyle/>
                    <a:p>
                      <a:pPr>
                        <a:defRPr sz="2200" b="1">
                          <a:solidFill>
                            <a:srgbClr val="FFFFFF"/>
                          </a:solidFill>
                          <a:latin typeface="Arial"/>
                        </a:defRPr>
                      </a:pPr>
                      <a:r>
                        <a:t>Phần việc</a:t>
                      </a:r>
                    </a:p>
                  </a:txBody>
                  <a:tcPr marL="109728" marT="82296">
                    <a:solidFill>
                      <a:srgbClr val="233E57"/>
                    </a:solidFill>
                  </a:tcPr>
                </a:tc>
                <a:tc>
                  <a:txBody>
                    <a:bodyPr/>
                    <a:lstStyle/>
                    <a:p>
                      <a:pPr>
                        <a:defRPr sz="2200" b="1">
                          <a:solidFill>
                            <a:srgbClr val="FFFFFF"/>
                          </a:solidFill>
                          <a:latin typeface="Arial"/>
                        </a:defRPr>
                      </a:pPr>
                      <a:r>
                        <a:t>Đã làm</a:t>
                      </a:r>
                    </a:p>
                  </a:txBody>
                  <a:tcPr marL="109728" marT="82296">
                    <a:solidFill>
                      <a:srgbClr val="233E57"/>
                    </a:solidFill>
                  </a:tcPr>
                </a:tc>
              </a:tr>
              <a:tr h="749807">
                <a:tc>
                  <a:txBody>
                    <a:bodyPr/>
                    <a:lstStyle/>
                    <a:p>
                      <a:pPr>
                        <a:defRPr sz="2200" b="0">
                          <a:solidFill>
                            <a:srgbClr val="202A32"/>
                          </a:solidFill>
                          <a:latin typeface="Arial"/>
                        </a:defRPr>
                      </a:pPr>
                      <a:r>
                        <a:t>Cài đặt nền tảng</a:t>
                      </a:r>
                    </a:p>
                  </a:txBody>
                  <a:tcPr marL="109728" marT="82296">
                    <a:solidFill>
                      <a:srgbClr val="F0F3F5"/>
                    </a:solidFill>
                  </a:tcPr>
                </a:tc>
                <a:tc>
                  <a:txBody>
                    <a:bodyPr/>
                    <a:lstStyle/>
                    <a:p>
                      <a:pPr>
                        <a:defRPr sz="2200" b="0">
                          <a:solidFill>
                            <a:srgbClr val="202A32"/>
                          </a:solidFill>
                          <a:latin typeface="Arial"/>
                        </a:defRPr>
                      </a:pPr>
                      <a:r>
                        <a:t>Encoder, CE/TRPO, EMA reference, queue</a:t>
                      </a:r>
                    </a:p>
                  </a:txBody>
                  <a:tcPr marL="109728" marT="82296">
                    <a:solidFill>
                      <a:srgbClr val="F0F3F5"/>
                    </a:solidFill>
                  </a:tcPr>
                </a:tc>
              </a:tr>
              <a:tr h="749807">
                <a:tc>
                  <a:txBody>
                    <a:bodyPr/>
                    <a:lstStyle/>
                    <a:p>
                      <a:pPr>
                        <a:defRPr sz="2200" b="0">
                          <a:solidFill>
                            <a:srgbClr val="202A32"/>
                          </a:solidFill>
                          <a:latin typeface="Arial"/>
                        </a:defRPr>
                      </a:pPr>
                      <a:r>
                        <a:t>Thực nghiệm thật</a:t>
                      </a:r>
                    </a:p>
                  </a:txBody>
                  <a:tcPr marL="109728" marT="82296">
                    <a:solidFill>
                      <a:srgbClr val="FFFFFF"/>
                    </a:solidFill>
                  </a:tcPr>
                </a:tc>
                <a:tc>
                  <a:txBody>
                    <a:bodyPr/>
                    <a:lstStyle/>
                    <a:p>
                      <a:pPr>
                        <a:defRPr sz="2200" b="0">
                          <a:solidFill>
                            <a:srgbClr val="202A32"/>
                          </a:solidFill>
                          <a:latin typeface="Arial"/>
                        </a:defRPr>
                      </a:pPr>
                      <a:r>
                        <a:t>Làm sạch dữ liệu, train Kaggle, đủ 300 query SciFact</a:t>
                      </a:r>
                    </a:p>
                  </a:txBody>
                  <a:tcPr marL="109728" marT="82296">
                    <a:solidFill>
                      <a:srgbClr val="FFFFFF"/>
                    </a:solidFill>
                  </a:tcPr>
                </a:tc>
              </a:tr>
              <a:tr h="749807">
                <a:tc>
                  <a:txBody>
                    <a:bodyPr/>
                    <a:lstStyle/>
                    <a:p>
                      <a:pPr>
                        <a:defRPr sz="2200" b="0">
                          <a:solidFill>
                            <a:srgbClr val="202A32"/>
                          </a:solidFill>
                          <a:latin typeface="Arial"/>
                        </a:defRPr>
                      </a:pPr>
                      <a:r>
                        <a:t>Biến thể của nhóm</a:t>
                      </a:r>
                    </a:p>
                  </a:txBody>
                  <a:tcPr marL="109728" marT="82296">
                    <a:solidFill>
                      <a:srgbClr val="F0F3F5"/>
                    </a:solidFill>
                  </a:tcPr>
                </a:tc>
                <a:tc>
                  <a:txBody>
                    <a:bodyPr/>
                    <a:lstStyle/>
                    <a:p>
                      <a:pPr>
                        <a:defRPr sz="2200" b="0">
                          <a:solidFill>
                            <a:srgbClr val="202A32"/>
                          </a:solidFill>
                          <a:latin typeface="Arial"/>
                        </a:defRPr>
                      </a:pPr>
                      <a:r>
                        <a:t>Teacher cố định + ranking KL + relative MSE</a:t>
                      </a:r>
                    </a:p>
                  </a:txBody>
                  <a:tcPr marL="109728" marT="82296">
                    <a:solidFill>
                      <a:srgbClr val="F0F3F5"/>
                    </a:solidFill>
                  </a:tcPr>
                </a:tc>
              </a:tr>
              <a:tr h="749811">
                <a:tc>
                  <a:txBody>
                    <a:bodyPr/>
                    <a:lstStyle/>
                    <a:p>
                      <a:pPr>
                        <a:defRPr sz="2200" b="0">
                          <a:solidFill>
                            <a:srgbClr val="202A32"/>
                          </a:solidFill>
                          <a:latin typeface="Arial"/>
                        </a:defRPr>
                      </a:pPr>
                      <a:r>
                        <a:t>Kiểm chứng</a:t>
                      </a:r>
                    </a:p>
                  </a:txBody>
                  <a:tcPr marL="109728" marT="82296">
                    <a:solidFill>
                      <a:srgbClr val="FFFFFF"/>
                    </a:solidFill>
                  </a:tcPr>
                </a:tc>
                <a:tc>
                  <a:txBody>
                    <a:bodyPr/>
                    <a:lstStyle/>
                    <a:p>
                      <a:pPr>
                        <a:defRPr sz="2200" b="0">
                          <a:solidFill>
                            <a:srgbClr val="202A32"/>
                          </a:solidFill>
                          <a:latin typeface="Arial"/>
                        </a:defRPr>
                      </a:pPr>
                      <a:r>
                        <a:t>Ba seed, ablation, metrics và demo checkpoint</a:t>
                      </a:r>
                    </a:p>
                  </a:txBody>
                  <a:tcPr marL="109728" marT="82296">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4. Dữ liệu: đã thay mock bằng mẫu thật</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results/anchored_kaggle/data_manifest.json · reports/anchored_improvement/input_audit.json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5</a:t>
            </a:r>
          </a:p>
        </p:txBody>
      </p:sp>
      <p:graphicFrame>
        <p:nvGraphicFramePr>
          <p:cNvPr id="6" name="Table 5"/>
          <p:cNvGraphicFramePr>
            <a:graphicFrameLocks noGrp="1"/>
          </p:cNvGraphicFramePr>
          <p:nvPr/>
        </p:nvGraphicFramePr>
        <p:xfrm>
          <a:off x="777240" y="1554480"/>
          <a:ext cx="10607040" cy="3429000"/>
        </p:xfrm>
        <a:graphic>
          <a:graphicData uri="http://schemas.openxmlformats.org/drawingml/2006/table">
            <a:tbl>
              <a:tblPr firstRow="1" bandRow="1">
                <a:tableStyleId>{5C22544A-7EE6-4342-B048-85BDC9FD1C3A}</a:tableStyleId>
              </a:tblPr>
              <a:tblGrid>
                <a:gridCol w="2926080"/>
                <a:gridCol w="2103120"/>
                <a:gridCol w="5577840"/>
              </a:tblGrid>
              <a:tr h="685800">
                <a:tc>
                  <a:txBody>
                    <a:bodyPr/>
                    <a:lstStyle/>
                    <a:p>
                      <a:pPr>
                        <a:defRPr sz="2200" b="1">
                          <a:solidFill>
                            <a:srgbClr val="FFFFFF"/>
                          </a:solidFill>
                          <a:latin typeface="Arial"/>
                        </a:defRPr>
                      </a:pPr>
                      <a:r>
                        <a:t>Bước</a:t>
                      </a:r>
                    </a:p>
                  </a:txBody>
                  <a:tcPr marL="109728" marT="82296">
                    <a:solidFill>
                      <a:srgbClr val="233E57"/>
                    </a:solidFill>
                  </a:tcPr>
                </a:tc>
                <a:tc>
                  <a:txBody>
                    <a:bodyPr/>
                    <a:lstStyle/>
                    <a:p>
                      <a:pPr>
                        <a:defRPr sz="2200" b="1">
                          <a:solidFill>
                            <a:srgbClr val="FFFFFF"/>
                          </a:solidFill>
                          <a:latin typeface="Arial"/>
                        </a:defRPr>
                      </a:pPr>
                      <a:r>
                        <a:t>Số lượng</a:t>
                      </a:r>
                    </a:p>
                  </a:txBody>
                  <a:tcPr marL="109728" marT="82296">
                    <a:solidFill>
                      <a:srgbClr val="233E57"/>
                    </a:solidFill>
                  </a:tcPr>
                </a:tc>
                <a:tc>
                  <a:txBody>
                    <a:bodyPr/>
                    <a:lstStyle/>
                    <a:p>
                      <a:pPr>
                        <a:defRPr sz="2200" b="1">
                          <a:solidFill>
                            <a:srgbClr val="FFFFFF"/>
                          </a:solidFill>
                          <a:latin typeface="Arial"/>
                        </a:defRPr>
                      </a:pPr>
                      <a:r>
                        <a:t>Dùng để làm gì?</a:t>
                      </a:r>
                    </a:p>
                  </a:txBody>
                  <a:tcPr marL="109728" marT="82296">
                    <a:solidFill>
                      <a:srgbClr val="233E57"/>
                    </a:solidFill>
                  </a:tcPr>
                </a:tc>
              </a:tr>
              <a:tr h="685800">
                <a:tc>
                  <a:txBody>
                    <a:bodyPr/>
                    <a:lstStyle/>
                    <a:p>
                      <a:pPr>
                        <a:defRPr sz="2200" b="0">
                          <a:solidFill>
                            <a:srgbClr val="202A32"/>
                          </a:solidFill>
                          <a:latin typeface="Arial"/>
                        </a:defRPr>
                      </a:pPr>
                      <a:r>
                        <a:t>Mẫu tác giả</a:t>
                      </a:r>
                    </a:p>
                  </a:txBody>
                  <a:tcPr marL="109728" marT="82296">
                    <a:solidFill>
                      <a:srgbClr val="F0F3F5"/>
                    </a:solidFill>
                  </a:tcPr>
                </a:tc>
                <a:tc>
                  <a:txBody>
                    <a:bodyPr/>
                    <a:lstStyle/>
                    <a:p>
                      <a:pPr>
                        <a:defRPr sz="2200" b="0">
                          <a:solidFill>
                            <a:srgbClr val="202A32"/>
                          </a:solidFill>
                          <a:latin typeface="Arial"/>
                        </a:defRPr>
                      </a:pPr>
                      <a:r>
                        <a:t>3.000 dòng</a:t>
                      </a:r>
                    </a:p>
                  </a:txBody>
                  <a:tcPr marL="109728" marT="82296">
                    <a:solidFill>
                      <a:srgbClr val="F0F3F5"/>
                    </a:solidFill>
                  </a:tcPr>
                </a:tc>
                <a:tc>
                  <a:txBody>
                    <a:bodyPr/>
                    <a:lstStyle/>
                    <a:p>
                      <a:pPr>
                        <a:defRPr sz="2200" b="0">
                          <a:solidFill>
                            <a:srgbClr val="202A32"/>
                          </a:solidFill>
                          <a:latin typeface="Arial"/>
                        </a:defRPr>
                      </a:pPr>
                      <a:r>
                        <a:t>Nguồn train, có provenance</a:t>
                      </a:r>
                    </a:p>
                  </a:txBody>
                  <a:tcPr marL="109728" marT="82296">
                    <a:solidFill>
                      <a:srgbClr val="F0F3F5"/>
                    </a:solidFill>
                  </a:tcPr>
                </a:tc>
              </a:tr>
              <a:tr h="685800">
                <a:tc>
                  <a:txBody>
                    <a:bodyPr/>
                    <a:lstStyle/>
                    <a:p>
                      <a:pPr>
                        <a:defRPr sz="2200" b="0">
                          <a:solidFill>
                            <a:srgbClr val="202A32"/>
                          </a:solidFill>
                          <a:latin typeface="Arial"/>
                        </a:defRPr>
                      </a:pPr>
                      <a:r>
                        <a:t>Sau làm sạch</a:t>
                      </a:r>
                    </a:p>
                  </a:txBody>
                  <a:tcPr marL="109728" marT="82296">
                    <a:solidFill>
                      <a:srgbClr val="FFFFFF"/>
                    </a:solidFill>
                  </a:tcPr>
                </a:tc>
                <a:tc>
                  <a:txBody>
                    <a:bodyPr/>
                    <a:lstStyle/>
                    <a:p>
                      <a:pPr>
                        <a:defRPr sz="2200" b="0">
                          <a:solidFill>
                            <a:srgbClr val="202A32"/>
                          </a:solidFill>
                          <a:latin typeface="Arial"/>
                        </a:defRPr>
                      </a:pPr>
                      <a:r>
                        <a:t>2.992 bộ ba</a:t>
                      </a:r>
                    </a:p>
                  </a:txBody>
                  <a:tcPr marL="109728" marT="82296">
                    <a:solidFill>
                      <a:srgbClr val="FFFFFF"/>
                    </a:solidFill>
                  </a:tcPr>
                </a:tc>
                <a:tc>
                  <a:txBody>
                    <a:bodyPr/>
                    <a:lstStyle/>
                    <a:p>
                      <a:pPr>
                        <a:defRPr sz="2200" b="0">
                          <a:solidFill>
                            <a:srgbClr val="202A32"/>
                          </a:solidFill>
                          <a:latin typeface="Arial"/>
                        </a:defRPr>
                      </a:pPr>
                      <a:r>
                        <a:t>Query / preferred / rejected</a:t>
                      </a:r>
                    </a:p>
                  </a:txBody>
                  <a:tcPr marL="109728" marT="82296">
                    <a:solidFill>
                      <a:srgbClr val="FFFFFF"/>
                    </a:solidFill>
                  </a:tcPr>
                </a:tc>
              </a:tr>
              <a:tr h="685800">
                <a:tc>
                  <a:txBody>
                    <a:bodyPr/>
                    <a:lstStyle/>
                    <a:p>
                      <a:pPr>
                        <a:defRPr sz="2200" b="0">
                          <a:solidFill>
                            <a:srgbClr val="202A32"/>
                          </a:solidFill>
                          <a:latin typeface="Arial"/>
                        </a:defRPr>
                      </a:pPr>
                      <a:r>
                        <a:t>Train</a:t>
                      </a:r>
                    </a:p>
                  </a:txBody>
                  <a:tcPr marL="109728" marT="82296">
                    <a:solidFill>
                      <a:srgbClr val="F0F3F5"/>
                    </a:solidFill>
                  </a:tcPr>
                </a:tc>
                <a:tc>
                  <a:txBody>
                    <a:bodyPr/>
                    <a:lstStyle/>
                    <a:p>
                      <a:pPr>
                        <a:defRPr sz="2200" b="0">
                          <a:solidFill>
                            <a:srgbClr val="202A32"/>
                          </a:solidFill>
                          <a:latin typeface="Arial"/>
                        </a:defRPr>
                      </a:pPr>
                      <a:r>
                        <a:t>2.543</a:t>
                      </a:r>
                    </a:p>
                  </a:txBody>
                  <a:tcPr marL="109728" marT="82296">
                    <a:solidFill>
                      <a:srgbClr val="F0F3F5"/>
                    </a:solidFill>
                  </a:tcPr>
                </a:tc>
                <a:tc>
                  <a:txBody>
                    <a:bodyPr/>
                    <a:lstStyle/>
                    <a:p>
                      <a:pPr>
                        <a:defRPr sz="2200" b="0">
                          <a:solidFill>
                            <a:srgbClr val="202A32"/>
                          </a:solidFill>
                          <a:latin typeface="Arial"/>
                        </a:defRPr>
                      </a:pPr>
                      <a:r>
                        <a:t>Cập nhật mô hình</a:t>
                      </a:r>
                    </a:p>
                  </a:txBody>
                  <a:tcPr marL="109728" marT="82296">
                    <a:solidFill>
                      <a:srgbClr val="F0F3F5"/>
                    </a:solidFill>
                  </a:tcPr>
                </a:tc>
              </a:tr>
              <a:tr h="685800">
                <a:tc>
                  <a:txBody>
                    <a:bodyPr/>
                    <a:lstStyle/>
                    <a:p>
                      <a:pPr>
                        <a:defRPr sz="2200" b="0">
                          <a:solidFill>
                            <a:srgbClr val="202A32"/>
                          </a:solidFill>
                          <a:latin typeface="Arial"/>
                        </a:defRPr>
                      </a:pPr>
                      <a:r>
                        <a:t>Held-out preference</a:t>
                      </a:r>
                    </a:p>
                  </a:txBody>
                  <a:tcPr marL="109728" marT="82296">
                    <a:solidFill>
                      <a:srgbClr val="FFFFFF"/>
                    </a:solidFill>
                  </a:tcPr>
                </a:tc>
                <a:tc>
                  <a:txBody>
                    <a:bodyPr/>
                    <a:lstStyle/>
                    <a:p>
                      <a:pPr>
                        <a:defRPr sz="2200" b="0">
                          <a:solidFill>
                            <a:srgbClr val="202A32"/>
                          </a:solidFill>
                          <a:latin typeface="Arial"/>
                        </a:defRPr>
                      </a:pPr>
                      <a:r>
                        <a:t>449</a:t>
                      </a:r>
                    </a:p>
                  </a:txBody>
                  <a:tcPr marL="109728" marT="82296">
                    <a:solidFill>
                      <a:srgbClr val="FFFFFF"/>
                    </a:solidFill>
                  </a:tcPr>
                </a:tc>
                <a:tc>
                  <a:txBody>
                    <a:bodyPr/>
                    <a:lstStyle/>
                    <a:p>
                      <a:pPr>
                        <a:defRPr sz="2200" b="0">
                          <a:solidFill>
                            <a:srgbClr val="202A32"/>
                          </a:solidFill>
                          <a:latin typeface="Arial"/>
                        </a:defRPr>
                      </a:pPr>
                      <a:r>
                        <a:t>Đo khớp nhãn mined</a:t>
                      </a:r>
                    </a:p>
                  </a:txBody>
                  <a:tcPr marL="109728" marT="82296">
                    <a:solidFill>
                      <a:srgbClr val="FFFFFF"/>
                    </a:solidFill>
                  </a:tcPr>
                </a:tc>
              </a:tr>
            </a:tbl>
          </a:graphicData>
        </a:graphic>
      </p:graphicFrame>
      <p:sp>
        <p:nvSpPr>
          <p:cNvPr id="7" name="Rectangle 6"/>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Split không trùng exact text; chưa loại mọi trùng bài hoặc paraphrase.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5. Từ TPOUR gọn đến biến thể retention</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tpour.py · AnchoredTPOUR trong anchored_tpour.py</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6</a:t>
            </a:r>
          </a:p>
        </p:txBody>
      </p:sp>
      <p:sp>
        <p:nvSpPr>
          <p:cNvPr id="6" name="Rectangle 5"/>
          <p:cNvSpPr/>
          <p:nvPr/>
        </p:nvSpPr>
        <p:spPr>
          <a:xfrm>
            <a:off x="914400" y="1828800"/>
            <a:ext cx="2926080" cy="1920240"/>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011680"/>
            <a:ext cx="2651760" cy="457200"/>
          </a:xfrm>
          <a:prstGeom prst="rect">
            <a:avLst/>
          </a:prstGeom>
          <a:noFill/>
        </p:spPr>
        <p:txBody>
          <a:bodyPr wrap="square" lIns="27432" rIns="27432" tIns="18288" bIns="18288">
            <a:spAutoFit/>
          </a:bodyPr>
          <a:lstStyle/>
          <a:p>
            <a:pPr>
              <a:spcAft>
                <a:spcPts val="1000"/>
              </a:spcAft>
              <a:defRPr sz="2700" b="1">
                <a:solidFill>
                  <a:srgbClr val="233E57"/>
                </a:solidFill>
                <a:latin typeface="Arial"/>
              </a:defRPr>
            </a:pPr>
            <a:r>
              <a:t>Student</a:t>
            </a:r>
          </a:p>
        </p:txBody>
      </p:sp>
      <p:sp>
        <p:nvSpPr>
          <p:cNvPr id="8" name="TextBox 7"/>
          <p:cNvSpPr txBox="1"/>
          <p:nvPr/>
        </p:nvSpPr>
        <p:spPr>
          <a:xfrm>
            <a:off x="1051560" y="2606040"/>
            <a:ext cx="2651760" cy="1143000"/>
          </a:xfrm>
          <a:prstGeom prst="rect">
            <a:avLst/>
          </a:prstGeom>
          <a:noFill/>
        </p:spPr>
        <p:txBody>
          <a:bodyPr wrap="square" lIns="27432" rIns="27432" tIns="18288" bIns="18288">
            <a:spAutoFit/>
          </a:bodyPr>
          <a:lstStyle/>
          <a:p>
            <a:pPr>
              <a:spcAft>
                <a:spcPts val="1000"/>
              </a:spcAft>
              <a:defRPr sz="1900" b="0">
                <a:solidFill>
                  <a:srgbClr val="202A32"/>
                </a:solidFill>
                <a:latin typeface="Arial"/>
              </a:defRPr>
            </a:pPr>
            <a:r>
              <a:t>Nhận gradient</a:t>
            </a:r>
          </a:p>
          <a:p>
            <a:pPr>
              <a:spcAft>
                <a:spcPts val="1000"/>
              </a:spcAft>
              <a:defRPr sz="1900" b="0">
                <a:solidFill>
                  <a:srgbClr val="202A32"/>
                </a:solidFill>
                <a:latin typeface="Arial"/>
              </a:defRPr>
            </a:pPr>
            <a:r>
              <a:t>Học CE + TRPO + retention</a:t>
            </a:r>
          </a:p>
        </p:txBody>
      </p:sp>
      <p:sp>
        <p:nvSpPr>
          <p:cNvPr id="9" name="Rectangle 8"/>
          <p:cNvSpPr/>
          <p:nvPr/>
        </p:nvSpPr>
        <p:spPr>
          <a:xfrm>
            <a:off x="4572000" y="1828800"/>
            <a:ext cx="2926080" cy="1920240"/>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011680"/>
            <a:ext cx="2651760" cy="457200"/>
          </a:xfrm>
          <a:prstGeom prst="rect">
            <a:avLst/>
          </a:prstGeom>
          <a:noFill/>
        </p:spPr>
        <p:txBody>
          <a:bodyPr wrap="square" lIns="27432" rIns="27432" tIns="18288" bIns="18288">
            <a:spAutoFit/>
          </a:bodyPr>
          <a:lstStyle/>
          <a:p>
            <a:pPr>
              <a:spcAft>
                <a:spcPts val="1000"/>
              </a:spcAft>
              <a:defRPr sz="2700" b="1">
                <a:solidFill>
                  <a:srgbClr val="233E57"/>
                </a:solidFill>
                <a:latin typeface="Arial"/>
              </a:defRPr>
            </a:pPr>
            <a:r>
              <a:t>Reference</a:t>
            </a:r>
          </a:p>
        </p:txBody>
      </p:sp>
      <p:sp>
        <p:nvSpPr>
          <p:cNvPr id="11" name="TextBox 10"/>
          <p:cNvSpPr txBox="1"/>
          <p:nvPr/>
        </p:nvSpPr>
        <p:spPr>
          <a:xfrm>
            <a:off x="4709160" y="2606040"/>
            <a:ext cx="2651760" cy="1143000"/>
          </a:xfrm>
          <a:prstGeom prst="rect">
            <a:avLst/>
          </a:prstGeom>
          <a:noFill/>
        </p:spPr>
        <p:txBody>
          <a:bodyPr wrap="square" lIns="27432" rIns="27432" tIns="18288" bIns="18288">
            <a:spAutoFit/>
          </a:bodyPr>
          <a:lstStyle/>
          <a:p>
            <a:pPr>
              <a:spcAft>
                <a:spcPts val="1000"/>
              </a:spcAft>
              <a:defRPr sz="1900" b="0">
                <a:solidFill>
                  <a:srgbClr val="202A32"/>
                </a:solidFill>
                <a:latin typeface="Arial"/>
              </a:defRPr>
            </a:pPr>
            <a:r>
              <a:t>Cập nhật EMA</a:t>
            </a:r>
          </a:p>
          <a:p>
            <a:pPr>
              <a:spcAft>
                <a:spcPts val="1000"/>
              </a:spcAft>
              <a:defRPr sz="1900" b="0">
                <a:solidFill>
                  <a:srgbClr val="202A32"/>
                </a:solidFill>
                <a:latin typeface="Arial"/>
              </a:defRPr>
            </a:pPr>
            <a:r>
              <a:t>Tham chiếu TRPO / queue</a:t>
            </a:r>
          </a:p>
        </p:txBody>
      </p:sp>
      <p:sp>
        <p:nvSpPr>
          <p:cNvPr id="12" name="Rectangle 11"/>
          <p:cNvSpPr/>
          <p:nvPr/>
        </p:nvSpPr>
        <p:spPr>
          <a:xfrm>
            <a:off x="8229600" y="1828800"/>
            <a:ext cx="2926080" cy="1920240"/>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2011680"/>
            <a:ext cx="2651760" cy="457200"/>
          </a:xfrm>
          <a:prstGeom prst="rect">
            <a:avLst/>
          </a:prstGeom>
          <a:noFill/>
        </p:spPr>
        <p:txBody>
          <a:bodyPr wrap="square" lIns="27432" rIns="27432" tIns="18288" bIns="18288">
            <a:spAutoFit/>
          </a:bodyPr>
          <a:lstStyle/>
          <a:p>
            <a:pPr>
              <a:spcAft>
                <a:spcPts val="1000"/>
              </a:spcAft>
              <a:defRPr sz="2700" b="1">
                <a:solidFill>
                  <a:srgbClr val="233E57"/>
                </a:solidFill>
                <a:latin typeface="Arial"/>
              </a:defRPr>
            </a:pPr>
            <a:r>
              <a:t>Teacher</a:t>
            </a:r>
          </a:p>
        </p:txBody>
      </p:sp>
      <p:sp>
        <p:nvSpPr>
          <p:cNvPr id="14" name="TextBox 13"/>
          <p:cNvSpPr txBox="1"/>
          <p:nvPr/>
        </p:nvSpPr>
        <p:spPr>
          <a:xfrm>
            <a:off x="8366760" y="2606040"/>
            <a:ext cx="2651760" cy="1143000"/>
          </a:xfrm>
          <a:prstGeom prst="rect">
            <a:avLst/>
          </a:prstGeom>
          <a:noFill/>
        </p:spPr>
        <p:txBody>
          <a:bodyPr wrap="square" lIns="27432" rIns="27432" tIns="18288" bIns="18288">
            <a:spAutoFit/>
          </a:bodyPr>
          <a:lstStyle/>
          <a:p>
            <a:pPr>
              <a:spcAft>
                <a:spcPts val="1000"/>
              </a:spcAft>
              <a:defRPr sz="1900" b="0">
                <a:solidFill>
                  <a:srgbClr val="202A32"/>
                </a:solidFill>
                <a:latin typeface="Arial"/>
              </a:defRPr>
            </a:pPr>
            <a:r>
              <a:t>Đóng băng</a:t>
            </a:r>
          </a:p>
          <a:p>
            <a:pPr>
              <a:spcAft>
                <a:spcPts val="1000"/>
              </a:spcAft>
              <a:defRPr sz="1900" b="0">
                <a:solidFill>
                  <a:srgbClr val="202A32"/>
                </a:solidFill>
                <a:latin typeface="Arial"/>
              </a:defRPr>
            </a:pPr>
            <a:r>
              <a:t>Giữ hành vi ban đầu</a:t>
            </a:r>
          </a:p>
        </p:txBody>
      </p:sp>
      <p:sp>
        <p:nvSpPr>
          <p:cNvPr id="15" name="TextBox 14"/>
          <p:cNvSpPr txBox="1"/>
          <p:nvPr/>
        </p:nvSpPr>
        <p:spPr>
          <a:xfrm>
            <a:off x="914400" y="4251960"/>
            <a:ext cx="10332720" cy="54864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Cùng query / preferred / rejected đã augmentation</a:t>
            </a:r>
          </a:p>
        </p:txBody>
      </p:sp>
      <p:sp>
        <p:nvSpPr>
          <p:cNvPr id="16" name="Rectangle 15"/>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Khi truy xuất: chỉ tải student, không cộng điểm teacher.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6. Vì sao nhóm thêm teacher cố định?</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results/kaggle_real_seed42 · ANCHORED_METHOD.md</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7</a:t>
            </a:r>
          </a:p>
        </p:txBody>
      </p:sp>
      <p:sp>
        <p:nvSpPr>
          <p:cNvPr id="6" name="TextBox 5"/>
          <p:cNvSpPr txBox="1"/>
          <p:nvPr/>
        </p:nvSpPr>
        <p:spPr>
          <a:xfrm>
            <a:off x="777240" y="1463040"/>
            <a:ext cx="228600" cy="457200"/>
          </a:xfrm>
          <a:prstGeom prst="rect">
            <a:avLst/>
          </a:prstGeom>
          <a:noFill/>
        </p:spPr>
        <p:txBody>
          <a:bodyPr wrap="square" lIns="27432" rIns="27432" tIns="18288" bIns="18288">
            <a:spAutoFit/>
          </a:bodyPr>
          <a:lstStyle/>
          <a:p>
            <a:pPr>
              <a:spcAft>
                <a:spcPts val="1000"/>
              </a:spcAft>
              <a:defRPr sz="2600" b="0">
                <a:solidFill>
                  <a:srgbClr val="39779B"/>
                </a:solidFill>
                <a:latin typeface="Arial"/>
              </a:defRPr>
            </a:pPr>
            <a:r>
              <a:t>•</a:t>
            </a:r>
          </a:p>
        </p:txBody>
      </p:sp>
      <p:sp>
        <p:nvSpPr>
          <p:cNvPr id="7" name="TextBox 6"/>
          <p:cNvSpPr txBox="1"/>
          <p:nvPr/>
        </p:nvSpPr>
        <p:spPr>
          <a:xfrm>
            <a:off x="1097280" y="1463040"/>
            <a:ext cx="10287000" cy="850392"/>
          </a:xfrm>
          <a:prstGeom prst="rect">
            <a:avLst/>
          </a:prstGeom>
          <a:noFill/>
        </p:spPr>
        <p:txBody>
          <a:bodyPr wrap="square" lIns="27432" rIns="27432" tIns="18288" bIns="18288">
            <a:spAutoFit/>
          </a:bodyPr>
          <a:lstStyle/>
          <a:p>
            <a:pPr>
              <a:spcAft>
                <a:spcPts val="1000"/>
              </a:spcAft>
              <a:defRPr sz="2600" b="0">
                <a:solidFill>
                  <a:srgbClr val="202A32"/>
                </a:solidFill>
                <a:latin typeface="Arial"/>
              </a:defRPr>
            </a:pPr>
            <a:r>
              <a:t>Fine-tune mẫu nhỏ làm giảm SciFact so với Contriever gốc.</a:t>
            </a:r>
          </a:p>
        </p:txBody>
      </p:sp>
      <p:sp>
        <p:nvSpPr>
          <p:cNvPr id="8" name="TextBox 7"/>
          <p:cNvSpPr txBox="1"/>
          <p:nvPr/>
        </p:nvSpPr>
        <p:spPr>
          <a:xfrm>
            <a:off x="777240" y="2404872"/>
            <a:ext cx="228600" cy="457200"/>
          </a:xfrm>
          <a:prstGeom prst="rect">
            <a:avLst/>
          </a:prstGeom>
          <a:noFill/>
        </p:spPr>
        <p:txBody>
          <a:bodyPr wrap="square" lIns="27432" rIns="27432" tIns="18288" bIns="18288">
            <a:spAutoFit/>
          </a:bodyPr>
          <a:lstStyle/>
          <a:p>
            <a:pPr>
              <a:spcAft>
                <a:spcPts val="1000"/>
              </a:spcAft>
              <a:defRPr sz="2600" b="0">
                <a:solidFill>
                  <a:srgbClr val="39779B"/>
                </a:solidFill>
                <a:latin typeface="Arial"/>
              </a:defRPr>
            </a:pPr>
            <a:r>
              <a:t>•</a:t>
            </a:r>
          </a:p>
        </p:txBody>
      </p:sp>
      <p:sp>
        <p:nvSpPr>
          <p:cNvPr id="9" name="TextBox 8"/>
          <p:cNvSpPr txBox="1"/>
          <p:nvPr/>
        </p:nvSpPr>
        <p:spPr>
          <a:xfrm>
            <a:off x="1097280" y="2404872"/>
            <a:ext cx="10287000" cy="850392"/>
          </a:xfrm>
          <a:prstGeom prst="rect">
            <a:avLst/>
          </a:prstGeom>
          <a:noFill/>
        </p:spPr>
        <p:txBody>
          <a:bodyPr wrap="square" lIns="27432" rIns="27432" tIns="18288" bIns="18288">
            <a:spAutoFit/>
          </a:bodyPr>
          <a:lstStyle/>
          <a:p>
            <a:pPr>
              <a:spcAft>
                <a:spcPts val="1000"/>
              </a:spcAft>
              <a:defRPr sz="2600" b="0">
                <a:solidFill>
                  <a:srgbClr val="202A32"/>
                </a:solidFill>
                <a:latin typeface="Arial"/>
              </a:defRPr>
            </a:pPr>
            <a:r>
              <a:t>EMA reference đi theo student, không giữ nguyên mốc ban đầu.</a:t>
            </a:r>
          </a:p>
        </p:txBody>
      </p:sp>
      <p:sp>
        <p:nvSpPr>
          <p:cNvPr id="10" name="TextBox 9"/>
          <p:cNvSpPr txBox="1"/>
          <p:nvPr/>
        </p:nvSpPr>
        <p:spPr>
          <a:xfrm>
            <a:off x="777240" y="3346704"/>
            <a:ext cx="228600" cy="457200"/>
          </a:xfrm>
          <a:prstGeom prst="rect">
            <a:avLst/>
          </a:prstGeom>
          <a:noFill/>
        </p:spPr>
        <p:txBody>
          <a:bodyPr wrap="square" lIns="27432" rIns="27432" tIns="18288" bIns="18288">
            <a:spAutoFit/>
          </a:bodyPr>
          <a:lstStyle/>
          <a:p>
            <a:pPr>
              <a:spcAft>
                <a:spcPts val="1000"/>
              </a:spcAft>
              <a:defRPr sz="2600" b="0">
                <a:solidFill>
                  <a:srgbClr val="39779B"/>
                </a:solidFill>
                <a:latin typeface="Arial"/>
              </a:defRPr>
            </a:pPr>
            <a:r>
              <a:t>•</a:t>
            </a:r>
          </a:p>
        </p:txBody>
      </p:sp>
      <p:sp>
        <p:nvSpPr>
          <p:cNvPr id="11" name="TextBox 10"/>
          <p:cNvSpPr txBox="1"/>
          <p:nvPr/>
        </p:nvSpPr>
        <p:spPr>
          <a:xfrm>
            <a:off x="1097280" y="3346704"/>
            <a:ext cx="10287000" cy="850392"/>
          </a:xfrm>
          <a:prstGeom prst="rect">
            <a:avLst/>
          </a:prstGeom>
          <a:noFill/>
        </p:spPr>
        <p:txBody>
          <a:bodyPr wrap="square" lIns="27432" rIns="27432" tIns="18288" bIns="18288">
            <a:spAutoFit/>
          </a:bodyPr>
          <a:lstStyle/>
          <a:p>
            <a:pPr>
              <a:spcAft>
                <a:spcPts val="1000"/>
              </a:spcAft>
              <a:defRPr sz="2600" b="0">
                <a:solidFill>
                  <a:srgbClr val="202A32"/>
                </a:solidFill>
                <a:latin typeface="Arial"/>
              </a:defRPr>
            </a:pPr>
            <a:r>
              <a:t>Teacher cố định tạo mục tiêu giữ xếp hạng và biểu diễn.</a:t>
            </a:r>
          </a:p>
        </p:txBody>
      </p:sp>
      <p:sp>
        <p:nvSpPr>
          <p:cNvPr id="12" name="Rectangle 11"/>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Giả thuyết cần đo: giữ retrieval tổng quát có làm cản học ưu tiên mới không?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7. Nhóm thay đổi hàm mục tiêu thế nào?</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anchored_tpour.py · λ=0,925; γ=10; η=1; temperature retention=0,1</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8</a:t>
            </a:r>
          </a:p>
        </p:txBody>
      </p:sp>
      <p:pic>
        <p:nvPicPr>
          <p:cNvPr id="6" name="Picture 5" descr="objective.png"/>
          <p:cNvPicPr>
            <a:picLocks noChangeAspect="1"/>
          </p:cNvPicPr>
          <p:nvPr/>
        </p:nvPicPr>
        <p:blipFill>
          <a:blip r:embed="rId3"/>
          <a:stretch>
            <a:fillRect/>
          </a:stretch>
        </p:blipFill>
        <p:spPr>
          <a:xfrm>
            <a:off x="777240" y="1595415"/>
            <a:ext cx="10607039" cy="832529"/>
          </a:xfrm>
          <a:prstGeom prst="rect">
            <a:avLst/>
          </a:prstGeom>
        </p:spPr>
      </p:pic>
      <p:graphicFrame>
        <p:nvGraphicFramePr>
          <p:cNvPr id="7" name="Table 6"/>
          <p:cNvGraphicFramePr>
            <a:graphicFrameLocks noGrp="1"/>
          </p:cNvGraphicFramePr>
          <p:nvPr/>
        </p:nvGraphicFramePr>
        <p:xfrm>
          <a:off x="777240" y="2834640"/>
          <a:ext cx="10607040" cy="2331720"/>
        </p:xfrm>
        <a:graphic>
          <a:graphicData uri="http://schemas.openxmlformats.org/drawingml/2006/table">
            <a:tbl>
              <a:tblPr firstRow="1" bandRow="1">
                <a:tableStyleId>{5C22544A-7EE6-4342-B048-85BDC9FD1C3A}</a:tableStyleId>
              </a:tblPr>
              <a:tblGrid>
                <a:gridCol w="2286000"/>
                <a:gridCol w="4023360"/>
                <a:gridCol w="4297680"/>
              </a:tblGrid>
              <a:tr h="777240">
                <a:tc>
                  <a:txBody>
                    <a:bodyPr/>
                    <a:lstStyle/>
                    <a:p>
                      <a:pPr>
                        <a:defRPr sz="2100" b="1">
                          <a:solidFill>
                            <a:srgbClr val="FFFFFF"/>
                          </a:solidFill>
                          <a:latin typeface="Arial"/>
                        </a:defRPr>
                      </a:pPr>
                      <a:r>
                        <a:t>Thành phần thêm</a:t>
                      </a:r>
                    </a:p>
                  </a:txBody>
                  <a:tcPr marL="109728" marT="82296">
                    <a:solidFill>
                      <a:srgbClr val="233E57"/>
                    </a:solidFill>
                  </a:tcPr>
                </a:tc>
                <a:tc>
                  <a:txBody>
                    <a:bodyPr/>
                    <a:lstStyle/>
                    <a:p>
                      <a:pPr>
                        <a:defRPr sz="2100" b="1">
                          <a:solidFill>
                            <a:srgbClr val="FFFFFF"/>
                          </a:solidFill>
                          <a:latin typeface="Arial"/>
                        </a:defRPr>
                      </a:pPr>
                      <a:r>
                        <a:t>Mục tiêu</a:t>
                      </a:r>
                    </a:p>
                  </a:txBody>
                  <a:tcPr marL="109728" marT="82296">
                    <a:solidFill>
                      <a:srgbClr val="233E57"/>
                    </a:solidFill>
                  </a:tcPr>
                </a:tc>
                <a:tc>
                  <a:txBody>
                    <a:bodyPr/>
                    <a:lstStyle/>
                    <a:p>
                      <a:pPr>
                        <a:defRPr sz="2100" b="1">
                          <a:solidFill>
                            <a:srgbClr val="FFFFFF"/>
                          </a:solidFill>
                          <a:latin typeface="Arial"/>
                        </a:defRPr>
                      </a:pPr>
                      <a:r>
                        <a:t>Giới hạn</a:t>
                      </a:r>
                    </a:p>
                  </a:txBody>
                  <a:tcPr marL="109728" marT="82296">
                    <a:solidFill>
                      <a:srgbClr val="233E57"/>
                    </a:solidFill>
                  </a:tcPr>
                </a:tc>
              </a:tr>
              <a:tr h="777240">
                <a:tc>
                  <a:txBody>
                    <a:bodyPr/>
                    <a:lstStyle/>
                    <a:p>
                      <a:pPr>
                        <a:defRPr sz="2100" b="0">
                          <a:solidFill>
                            <a:srgbClr val="202A32"/>
                          </a:solidFill>
                          <a:latin typeface="Arial"/>
                        </a:defRPr>
                      </a:pPr>
                      <a:r>
                        <a:t>Ranking KL</a:t>
                      </a:r>
                    </a:p>
                  </a:txBody>
                  <a:tcPr marL="109728" marT="82296">
                    <a:solidFill>
                      <a:srgbClr val="F0F3F5"/>
                    </a:solidFill>
                  </a:tcPr>
                </a:tc>
                <a:tc>
                  <a:txBody>
                    <a:bodyPr/>
                    <a:lstStyle/>
                    <a:p>
                      <a:pPr>
                        <a:defRPr sz="2100" b="0">
                          <a:solidFill>
                            <a:srgbClr val="202A32"/>
                          </a:solidFill>
                          <a:latin typeface="Arial"/>
                        </a:defRPr>
                      </a:pPr>
                      <a:r>
                        <a:t>Giữ phân bố ưu tiên của teacher</a:t>
                      </a:r>
                    </a:p>
                  </a:txBody>
                  <a:tcPr marL="109728" marT="82296">
                    <a:solidFill>
                      <a:srgbClr val="F0F3F5"/>
                    </a:solidFill>
                  </a:tcPr>
                </a:tc>
                <a:tc>
                  <a:txBody>
                    <a:bodyPr/>
                    <a:lstStyle/>
                    <a:p>
                      <a:pPr>
                        <a:defRPr sz="2100" b="0">
                          <a:solidFill>
                            <a:srgbClr val="202A32"/>
                          </a:solidFill>
                          <a:latin typeface="Arial"/>
                        </a:defRPr>
                      </a:pPr>
                      <a:r>
                        <a:t>Chỉ trên candidate list của batch</a:t>
                      </a:r>
                    </a:p>
                  </a:txBody>
                  <a:tcPr marL="109728" marT="82296">
                    <a:solidFill>
                      <a:srgbClr val="F0F3F5"/>
                    </a:solidFill>
                  </a:tcPr>
                </a:tc>
              </a:tr>
              <a:tr h="777240">
                <a:tc>
                  <a:txBody>
                    <a:bodyPr/>
                    <a:lstStyle/>
                    <a:p>
                      <a:pPr>
                        <a:defRPr sz="2100" b="0">
                          <a:solidFill>
                            <a:srgbClr val="202A32"/>
                          </a:solidFill>
                          <a:latin typeface="Arial"/>
                        </a:defRPr>
                      </a:pPr>
                      <a:r>
                        <a:t>Relative MSE</a:t>
                      </a:r>
                    </a:p>
                  </a:txBody>
                  <a:tcPr marL="109728" marT="82296">
                    <a:solidFill>
                      <a:srgbClr val="FFFFFF"/>
                    </a:solidFill>
                  </a:tcPr>
                </a:tc>
                <a:tc>
                  <a:txBody>
                    <a:bodyPr/>
                    <a:lstStyle/>
                    <a:p>
                      <a:pPr>
                        <a:defRPr sz="2100" b="0">
                          <a:solidFill>
                            <a:srgbClr val="202A32"/>
                          </a:solidFill>
                          <a:latin typeface="Arial"/>
                        </a:defRPr>
                      </a:pPr>
                      <a:r>
                        <a:t>Giữ hướng và độ lớn embedding</a:t>
                      </a:r>
                    </a:p>
                  </a:txBody>
                  <a:tcPr marL="109728" marT="82296">
                    <a:solidFill>
                      <a:srgbClr val="FFFFFF"/>
                    </a:solidFill>
                  </a:tcPr>
                </a:tc>
                <a:tc>
                  <a:txBody>
                    <a:bodyPr/>
                    <a:lstStyle/>
                    <a:p>
                      <a:pPr>
                        <a:defRPr sz="2100" b="0">
                          <a:solidFill>
                            <a:srgbClr val="202A32"/>
                          </a:solidFill>
                          <a:latin typeface="Arial"/>
                        </a:defRPr>
                      </a:pPr>
                      <a:r>
                        <a:t>Cần ablation để biết lợi ích riêng</a:t>
                      </a:r>
                    </a:p>
                  </a:txBody>
                  <a:tcPr marL="109728" marT="82296">
                    <a:solidFill>
                      <a:srgbClr val="FFFFFF"/>
                    </a:solidFill>
                  </a:tcPr>
                </a:tc>
              </a:tr>
            </a:tbl>
          </a:graphicData>
        </a:graphic>
      </p:graphicFrame>
      <p:sp>
        <p:nvSpPr>
          <p:cNvPr id="8" name="Rectangle 7"/>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Đây là biến thể nhóm thử nghiệm; knowledge distillation là kỹ thuật đã có.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8. Một bước train và một lần truy xuất</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real_experiment.py · live_retrieval_demo.py</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9</a:t>
            </a:r>
          </a:p>
        </p:txBody>
      </p:sp>
      <p:sp>
        <p:nvSpPr>
          <p:cNvPr id="6" name="TextBox 5"/>
          <p:cNvSpPr txBox="1"/>
          <p:nvPr/>
        </p:nvSpPr>
        <p:spPr>
          <a:xfrm>
            <a:off x="822960" y="1371600"/>
            <a:ext cx="1828800" cy="457200"/>
          </a:xfrm>
          <a:prstGeom prst="rect">
            <a:avLst/>
          </a:prstGeom>
          <a:noFill/>
        </p:spPr>
        <p:txBody>
          <a:bodyPr wrap="square" lIns="27432" rIns="27432" tIns="18288" bIns="18288">
            <a:spAutoFit/>
          </a:bodyPr>
          <a:lstStyle/>
          <a:p>
            <a:pPr>
              <a:spcAft>
                <a:spcPts val="1000"/>
              </a:spcAft>
              <a:defRPr sz="2300" b="1">
                <a:solidFill>
                  <a:srgbClr val="233E57"/>
                </a:solidFill>
                <a:latin typeface="Arial"/>
              </a:defRPr>
            </a:pPr>
            <a:r>
              <a:t>TRAIN</a:t>
            </a:r>
          </a:p>
        </p:txBody>
      </p:sp>
      <p:sp>
        <p:nvSpPr>
          <p:cNvPr id="7" name="TextBox 6"/>
          <p:cNvSpPr txBox="1"/>
          <p:nvPr/>
        </p:nvSpPr>
        <p:spPr>
          <a:xfrm>
            <a:off x="822960" y="2057400"/>
            <a:ext cx="10515600" cy="73152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Bộ ba → augmentation → embeddings → loss → gradient</a:t>
            </a:r>
          </a:p>
        </p:txBody>
      </p:sp>
      <p:sp>
        <p:nvSpPr>
          <p:cNvPr id="8" name="TextBox 7"/>
          <p:cNvSpPr txBox="1"/>
          <p:nvPr/>
        </p:nvSpPr>
        <p:spPr>
          <a:xfrm>
            <a:off x="822960" y="2880360"/>
            <a:ext cx="10515600" cy="64008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Bước hợp lệ → optimizer → scheduler → EMA → queue</a:t>
            </a:r>
          </a:p>
        </p:txBody>
      </p:sp>
      <p:sp>
        <p:nvSpPr>
          <p:cNvPr id="9" name="TextBox 8"/>
          <p:cNvSpPr txBox="1"/>
          <p:nvPr/>
        </p:nvSpPr>
        <p:spPr>
          <a:xfrm>
            <a:off x="822960" y="3931920"/>
            <a:ext cx="2286000" cy="457200"/>
          </a:xfrm>
          <a:prstGeom prst="rect">
            <a:avLst/>
          </a:prstGeom>
          <a:noFill/>
        </p:spPr>
        <p:txBody>
          <a:bodyPr wrap="square" lIns="27432" rIns="27432" tIns="18288" bIns="18288">
            <a:spAutoFit/>
          </a:bodyPr>
          <a:lstStyle/>
          <a:p>
            <a:pPr>
              <a:spcAft>
                <a:spcPts val="1000"/>
              </a:spcAft>
              <a:defRPr sz="2300" b="1">
                <a:solidFill>
                  <a:srgbClr val="233E57"/>
                </a:solidFill>
                <a:latin typeface="Arial"/>
              </a:defRPr>
            </a:pPr>
            <a:r>
              <a:t>INFERENCE</a:t>
            </a:r>
          </a:p>
        </p:txBody>
      </p:sp>
      <p:sp>
        <p:nvSpPr>
          <p:cNvPr id="10" name="TextBox 9"/>
          <p:cNvSpPr txBox="1"/>
          <p:nvPr/>
        </p:nvSpPr>
        <p:spPr>
          <a:xfrm>
            <a:off x="822960" y="4663440"/>
            <a:ext cx="10515600" cy="73152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Student checkpoint → corpus index → query mới → top-k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9. Thiết kế đối chứng trên Kaggle</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results/anchored_kaggle/*/config.json, completed.json, provenance.json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10</a:t>
            </a:r>
          </a:p>
        </p:txBody>
      </p:sp>
      <p:graphicFrame>
        <p:nvGraphicFramePr>
          <p:cNvPr id="6" name="Table 5"/>
          <p:cNvGraphicFramePr>
            <a:graphicFrameLocks noGrp="1"/>
          </p:cNvGraphicFramePr>
          <p:nvPr/>
        </p:nvGraphicFramePr>
        <p:xfrm>
          <a:off x="777240" y="1554480"/>
          <a:ext cx="10607040" cy="3785615"/>
        </p:xfrm>
        <a:graphic>
          <a:graphicData uri="http://schemas.openxmlformats.org/drawingml/2006/table">
            <a:tbl>
              <a:tblPr firstRow="1" bandRow="1">
                <a:tableStyleId>{5C22544A-7EE6-4342-B048-85BDC9FD1C3A}</a:tableStyleId>
              </a:tblPr>
              <a:tblGrid>
                <a:gridCol w="2743200"/>
                <a:gridCol w="7863840"/>
              </a:tblGrid>
              <a:tr h="630935">
                <a:tc>
                  <a:txBody>
                    <a:bodyPr/>
                    <a:lstStyle/>
                    <a:p>
                      <a:pPr>
                        <a:defRPr sz="2100" b="1">
                          <a:solidFill>
                            <a:srgbClr val="FFFFFF"/>
                          </a:solidFill>
                          <a:latin typeface="Arial"/>
                        </a:defRPr>
                      </a:pPr>
                      <a:r>
                        <a:t>Hạng mục</a:t>
                      </a:r>
                    </a:p>
                  </a:txBody>
                  <a:tcPr marL="109728" marT="82296">
                    <a:solidFill>
                      <a:srgbClr val="233E57"/>
                    </a:solidFill>
                  </a:tcPr>
                </a:tc>
                <a:tc>
                  <a:txBody>
                    <a:bodyPr/>
                    <a:lstStyle/>
                    <a:p>
                      <a:pPr>
                        <a:defRPr sz="2100" b="1">
                          <a:solidFill>
                            <a:srgbClr val="FFFFFF"/>
                          </a:solidFill>
                          <a:latin typeface="Arial"/>
                        </a:defRPr>
                      </a:pPr>
                      <a:r>
                        <a:t>Thiết lập</a:t>
                      </a:r>
                    </a:p>
                  </a:txBody>
                  <a:tcPr marL="109728" marT="82296">
                    <a:solidFill>
                      <a:srgbClr val="233E57"/>
                    </a:solidFill>
                  </a:tcPr>
                </a:tc>
              </a:tr>
              <a:tr h="630935">
                <a:tc>
                  <a:txBody>
                    <a:bodyPr/>
                    <a:lstStyle/>
                    <a:p>
                      <a:pPr>
                        <a:defRPr sz="2100" b="0">
                          <a:solidFill>
                            <a:srgbClr val="202A32"/>
                          </a:solidFill>
                          <a:latin typeface="Arial"/>
                        </a:defRPr>
                      </a:pPr>
                      <a:r>
                        <a:t>Đối chứng</a:t>
                      </a:r>
                    </a:p>
                  </a:txBody>
                  <a:tcPr marL="109728" marT="82296">
                    <a:solidFill>
                      <a:srgbClr val="F0F3F5"/>
                    </a:solidFill>
                  </a:tcPr>
                </a:tc>
                <a:tc>
                  <a:txBody>
                    <a:bodyPr/>
                    <a:lstStyle/>
                    <a:p>
                      <a:pPr>
                        <a:defRPr sz="2100" b="0">
                          <a:solidFill>
                            <a:srgbClr val="202A32"/>
                          </a:solidFill>
                          <a:latin typeface="Arial"/>
                        </a:defRPr>
                      </a:pPr>
                      <a:r>
                        <a:t>Contriever gốc / CE+TRPO / thêm retention</a:t>
                      </a:r>
                    </a:p>
                  </a:txBody>
                  <a:tcPr marL="109728" marT="82296">
                    <a:solidFill>
                      <a:srgbClr val="F0F3F5"/>
                    </a:solidFill>
                  </a:tcPr>
                </a:tc>
              </a:tr>
              <a:tr h="630935">
                <a:tc>
                  <a:txBody>
                    <a:bodyPr/>
                    <a:lstStyle/>
                    <a:p>
                      <a:pPr>
                        <a:defRPr sz="2100" b="0">
                          <a:solidFill>
                            <a:srgbClr val="202A32"/>
                          </a:solidFill>
                          <a:latin typeface="Arial"/>
                        </a:defRPr>
                      </a:pPr>
                      <a:r>
                        <a:t>Seed train</a:t>
                      </a:r>
                    </a:p>
                  </a:txBody>
                  <a:tcPr marL="109728" marT="82296">
                    <a:solidFill>
                      <a:srgbClr val="FFFFFF"/>
                    </a:solidFill>
                  </a:tcPr>
                </a:tc>
                <a:tc>
                  <a:txBody>
                    <a:bodyPr/>
                    <a:lstStyle/>
                    <a:p>
                      <a:pPr>
                        <a:defRPr sz="2100" b="0">
                          <a:solidFill>
                            <a:srgbClr val="202A32"/>
                          </a:solidFill>
                          <a:latin typeface="Arial"/>
                        </a:defRPr>
                      </a:pPr>
                      <a:r>
                        <a:t>42, 43, 44; thêm only-KL ở seed 42</a:t>
                      </a:r>
                    </a:p>
                  </a:txBody>
                  <a:tcPr marL="109728" marT="82296">
                    <a:solidFill>
                      <a:srgbClr val="FFFFFF"/>
                    </a:solidFill>
                  </a:tcPr>
                </a:tc>
              </a:tr>
              <a:tr h="630935">
                <a:tc>
                  <a:txBody>
                    <a:bodyPr/>
                    <a:lstStyle/>
                    <a:p>
                      <a:pPr>
                        <a:defRPr sz="2100" b="0">
                          <a:solidFill>
                            <a:srgbClr val="202A32"/>
                          </a:solidFill>
                          <a:latin typeface="Arial"/>
                        </a:defRPr>
                      </a:pPr>
                      <a:r>
                        <a:t>Ngân sách</a:t>
                      </a:r>
                    </a:p>
                  </a:txBody>
                  <a:tcPr marL="109728" marT="82296">
                    <a:solidFill>
                      <a:srgbClr val="F0F3F5"/>
                    </a:solidFill>
                  </a:tcPr>
                </a:tc>
                <a:tc>
                  <a:txBody>
                    <a:bodyPr/>
                    <a:lstStyle/>
                    <a:p>
                      <a:pPr>
                        <a:defRPr sz="2100" b="0">
                          <a:solidFill>
                            <a:srgbClr val="202A32"/>
                          </a:solidFill>
                          <a:latin typeface="Arial"/>
                        </a:defRPr>
                      </a:pPr>
                      <a:r>
                        <a:t>1.000 lần thử; 995 cập nhật hợp lệ mỗi run</a:t>
                      </a:r>
                    </a:p>
                  </a:txBody>
                  <a:tcPr marL="109728" marT="82296">
                    <a:solidFill>
                      <a:srgbClr val="F0F3F5"/>
                    </a:solidFill>
                  </a:tcPr>
                </a:tc>
              </a:tr>
              <a:tr h="630935">
                <a:tc>
                  <a:txBody>
                    <a:bodyPr/>
                    <a:lstStyle/>
                    <a:p>
                      <a:pPr>
                        <a:defRPr sz="2100" b="0">
                          <a:solidFill>
                            <a:srgbClr val="202A32"/>
                          </a:solidFill>
                          <a:latin typeface="Arial"/>
                        </a:defRPr>
                      </a:pPr>
                      <a:r>
                        <a:t>Cấu hình</a:t>
                      </a:r>
                    </a:p>
                  </a:txBody>
                  <a:tcPr marL="109728" marT="82296">
                    <a:solidFill>
                      <a:srgbClr val="FFFFFF"/>
                    </a:solidFill>
                  </a:tcPr>
                </a:tc>
                <a:tc>
                  <a:txBody>
                    <a:bodyPr/>
                    <a:lstStyle/>
                    <a:p>
                      <a:pPr>
                        <a:defRPr sz="2100" b="0">
                          <a:solidFill>
                            <a:srgbClr val="202A32"/>
                          </a:solidFill>
                          <a:latin typeface="Arial"/>
                        </a:defRPr>
                      </a:pPr>
                      <a:r>
                        <a:t>Batch 4 · queue 4.096 · max length 256 · lr 10⁻⁶</a:t>
                      </a:r>
                    </a:p>
                  </a:txBody>
                  <a:tcPr marL="109728" marT="82296">
                    <a:solidFill>
                      <a:srgbClr val="FFFFFF"/>
                    </a:solidFill>
                  </a:tcPr>
                </a:tc>
              </a:tr>
              <a:tr h="630940">
                <a:tc>
                  <a:txBody>
                    <a:bodyPr/>
                    <a:lstStyle/>
                    <a:p>
                      <a:pPr>
                        <a:defRPr sz="2100" b="0">
                          <a:solidFill>
                            <a:srgbClr val="202A32"/>
                          </a:solidFill>
                          <a:latin typeface="Arial"/>
                        </a:defRPr>
                      </a:pPr>
                      <a:r>
                        <a:t>Đánh giá</a:t>
                      </a:r>
                    </a:p>
                  </a:txBody>
                  <a:tcPr marL="109728" marT="82296">
                    <a:solidFill>
                      <a:srgbClr val="F0F3F5"/>
                    </a:solidFill>
                  </a:tcPr>
                </a:tc>
                <a:tc>
                  <a:txBody>
                    <a:bodyPr/>
                    <a:lstStyle/>
                    <a:p>
                      <a:pPr>
                        <a:defRPr sz="2100" b="0">
                          <a:solidFill>
                            <a:srgbClr val="202A32"/>
                          </a:solidFill>
                          <a:latin typeface="Arial"/>
                        </a:defRPr>
                      </a:pPr>
                      <a:r>
                        <a:t>300 query / 5.183 tài liệu SciFact; cùng protocol</a:t>
                      </a:r>
                    </a:p>
                  </a:txBody>
                  <a:tcPr marL="109728" marT="82296">
                    <a:solidFill>
                      <a:srgbClr val="F0F3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10. Kết quả: giảm suy giảm so với TRPO</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results/anchored_kaggle/demo/summary.json · Mean ± sample SD; baseline cố định</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11</a:t>
            </a:r>
          </a:p>
        </p:txBody>
      </p:sp>
      <p:pic>
        <p:nvPicPr>
          <p:cNvPr id="6" name="Picture 5" descr="scifact.png"/>
          <p:cNvPicPr>
            <a:picLocks noChangeAspect="1"/>
          </p:cNvPicPr>
          <p:nvPr/>
        </p:nvPicPr>
        <p:blipFill>
          <a:blip r:embed="rId3"/>
          <a:stretch>
            <a:fillRect/>
          </a:stretch>
        </p:blipFill>
        <p:spPr>
          <a:xfrm>
            <a:off x="822960" y="1600200"/>
            <a:ext cx="7315200" cy="3657600"/>
          </a:xfrm>
          <a:prstGeom prst="rect">
            <a:avLst/>
          </a:prstGeom>
        </p:spPr>
      </p:pic>
      <p:sp>
        <p:nvSpPr>
          <p:cNvPr id="7" name="TextBox 6"/>
          <p:cNvSpPr txBox="1"/>
          <p:nvPr/>
        </p:nvSpPr>
        <p:spPr>
          <a:xfrm>
            <a:off x="8275320" y="2011680"/>
            <a:ext cx="2926080" cy="640080"/>
          </a:xfrm>
          <a:prstGeom prst="rect">
            <a:avLst/>
          </a:prstGeom>
          <a:noFill/>
        </p:spPr>
        <p:txBody>
          <a:bodyPr wrap="square" lIns="27432" rIns="27432" tIns="18288" bIns="18288">
            <a:spAutoFit/>
          </a:bodyPr>
          <a:lstStyle/>
          <a:p>
            <a:pPr>
              <a:spcAft>
                <a:spcPts val="1000"/>
              </a:spcAft>
              <a:defRPr sz="3400" b="1">
                <a:solidFill>
                  <a:srgbClr val="A44C47"/>
                </a:solidFill>
                <a:latin typeface="Arial"/>
              </a:defRPr>
            </a:pPr>
            <a:r>
              <a:t>+0,02872</a:t>
            </a:r>
          </a:p>
        </p:txBody>
      </p:sp>
      <p:sp>
        <p:nvSpPr>
          <p:cNvPr id="8" name="TextBox 7"/>
          <p:cNvSpPr txBox="1"/>
          <p:nvPr/>
        </p:nvSpPr>
        <p:spPr>
          <a:xfrm>
            <a:off x="8275320" y="2788920"/>
            <a:ext cx="3017520" cy="731520"/>
          </a:xfrm>
          <a:prstGeom prst="rect">
            <a:avLst/>
          </a:prstGeom>
          <a:noFill/>
        </p:spPr>
        <p:txBody>
          <a:bodyPr wrap="square" lIns="27432" rIns="27432" tIns="18288" bIns="18288">
            <a:spAutoFit/>
          </a:bodyPr>
          <a:lstStyle/>
          <a:p>
            <a:pPr>
              <a:spcAft>
                <a:spcPts val="1000"/>
              </a:spcAft>
              <a:defRPr sz="2300" b="0">
                <a:solidFill>
                  <a:srgbClr val="202A32"/>
                </a:solidFill>
                <a:latin typeface="Arial"/>
              </a:defRPr>
            </a:pPr>
            <a:r>
              <a:t>so với CE + TRPO</a:t>
            </a:r>
          </a:p>
        </p:txBody>
      </p:sp>
      <p:sp>
        <p:nvSpPr>
          <p:cNvPr id="9" name="TextBox 8"/>
          <p:cNvSpPr txBox="1"/>
          <p:nvPr/>
        </p:nvSpPr>
        <p:spPr>
          <a:xfrm>
            <a:off x="8275320" y="3794760"/>
            <a:ext cx="3017520" cy="1097280"/>
          </a:xfrm>
          <a:prstGeom prst="rect">
            <a:avLst/>
          </a:prstGeom>
          <a:noFill/>
        </p:spPr>
        <p:txBody>
          <a:bodyPr wrap="square" lIns="27432" rIns="27432" tIns="18288" bIns="18288">
            <a:spAutoFit/>
          </a:bodyPr>
          <a:lstStyle/>
          <a:p>
            <a:pPr>
              <a:spcAft>
                <a:spcPts val="1000"/>
              </a:spcAft>
              <a:defRPr sz="2400" b="1">
                <a:solidFill>
                  <a:srgbClr val="202A32"/>
                </a:solidFill>
                <a:latin typeface="Arial"/>
              </a:defRPr>
            </a:pPr>
            <a:r>
              <a:t>Chưa vượt</a:t>
            </a:r>
          </a:p>
          <a:p>
            <a:pPr>
              <a:spcAft>
                <a:spcPts val="1000"/>
              </a:spcAft>
              <a:defRPr sz="2400" b="1">
                <a:solidFill>
                  <a:srgbClr val="202A32"/>
                </a:solidFill>
                <a:latin typeface="Arial"/>
              </a:defRPr>
            </a:pPr>
            <a:r>
              <a:t>Contriever gốc</a:t>
            </a:r>
          </a:p>
        </p:txBody>
      </p:sp>
      <p:sp>
        <p:nvSpPr>
          <p:cNvPr id="10" name="Rectangle 9"/>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Retention 0,62907 ± 0,00204; TRPO 0,60035 ± 0,00432.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11. Kết quả có lặp lại qua các seed không?</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compare_tpour_seed{42,43,44}_anchored_seed{42,43,44}.json · Bootstrap 5.000 lần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12</a:t>
            </a:r>
          </a:p>
        </p:txBody>
      </p:sp>
      <p:graphicFrame>
        <p:nvGraphicFramePr>
          <p:cNvPr id="6" name="Table 5"/>
          <p:cNvGraphicFramePr>
            <a:graphicFrameLocks noGrp="1"/>
          </p:cNvGraphicFramePr>
          <p:nvPr/>
        </p:nvGraphicFramePr>
        <p:xfrm>
          <a:off x="777240" y="1554480"/>
          <a:ext cx="10607040" cy="3108960"/>
        </p:xfrm>
        <a:graphic>
          <a:graphicData uri="http://schemas.openxmlformats.org/drawingml/2006/table">
            <a:tbl>
              <a:tblPr firstRow="1" bandRow="1">
                <a:tableStyleId>{5C22544A-7EE6-4342-B048-85BDC9FD1C3A}</a:tableStyleId>
              </a:tblPr>
              <a:tblGrid>
                <a:gridCol w="1828800"/>
                <a:gridCol w="3200400"/>
                <a:gridCol w="5577840"/>
              </a:tblGrid>
              <a:tr h="777240">
                <a:tc>
                  <a:txBody>
                    <a:bodyPr/>
                    <a:lstStyle/>
                    <a:p>
                      <a:pPr>
                        <a:defRPr sz="2500" b="1">
                          <a:solidFill>
                            <a:srgbClr val="FFFFFF"/>
                          </a:solidFill>
                          <a:latin typeface="Arial"/>
                        </a:defRPr>
                      </a:pPr>
                      <a:r>
                        <a:t>Seed</a:t>
                      </a:r>
                    </a:p>
                  </a:txBody>
                  <a:tcPr marL="109728" marT="82296">
                    <a:solidFill>
                      <a:srgbClr val="233E57"/>
                    </a:solidFill>
                  </a:tcPr>
                </a:tc>
                <a:tc>
                  <a:txBody>
                    <a:bodyPr/>
                    <a:lstStyle/>
                    <a:p>
                      <a:pPr>
                        <a:defRPr sz="2500" b="1">
                          <a:solidFill>
                            <a:srgbClr val="FFFFFF"/>
                          </a:solidFill>
                          <a:latin typeface="Arial"/>
                        </a:defRPr>
                      </a:pPr>
                      <a:r>
                        <a:t>Delta nDCG@10</a:t>
                      </a:r>
                    </a:p>
                  </a:txBody>
                  <a:tcPr marL="109728" marT="82296">
                    <a:solidFill>
                      <a:srgbClr val="233E57"/>
                    </a:solidFill>
                  </a:tcPr>
                </a:tc>
                <a:tc>
                  <a:txBody>
                    <a:bodyPr/>
                    <a:lstStyle/>
                    <a:p>
                      <a:pPr>
                        <a:defRPr sz="2500" b="1">
                          <a:solidFill>
                            <a:srgbClr val="FFFFFF"/>
                          </a:solidFill>
                          <a:latin typeface="Arial"/>
                        </a:defRPr>
                      </a:pPr>
                      <a:r>
                        <a:t>CI 95% theo query</a:t>
                      </a:r>
                    </a:p>
                  </a:txBody>
                  <a:tcPr marL="109728" marT="82296">
                    <a:solidFill>
                      <a:srgbClr val="233E57"/>
                    </a:solidFill>
                  </a:tcPr>
                </a:tc>
              </a:tr>
              <a:tr h="777240">
                <a:tc>
                  <a:txBody>
                    <a:bodyPr/>
                    <a:lstStyle/>
                    <a:p>
                      <a:pPr>
                        <a:defRPr sz="2500" b="0">
                          <a:solidFill>
                            <a:srgbClr val="202A32"/>
                          </a:solidFill>
                          <a:latin typeface="Arial"/>
                        </a:defRPr>
                      </a:pPr>
                      <a:r>
                        <a:t>42</a:t>
                      </a:r>
                    </a:p>
                  </a:txBody>
                  <a:tcPr marL="109728" marT="82296">
                    <a:solidFill>
                      <a:srgbClr val="F0F3F5"/>
                    </a:solidFill>
                  </a:tcPr>
                </a:tc>
                <a:tc>
                  <a:txBody>
                    <a:bodyPr/>
                    <a:lstStyle/>
                    <a:p>
                      <a:pPr>
                        <a:defRPr sz="2500" b="0">
                          <a:solidFill>
                            <a:srgbClr val="202A32"/>
                          </a:solidFill>
                          <a:latin typeface="Arial"/>
                        </a:defRPr>
                      </a:pPr>
                      <a:r>
                        <a:t>+0.03510</a:t>
                      </a:r>
                    </a:p>
                  </a:txBody>
                  <a:tcPr marL="109728" marT="82296">
                    <a:solidFill>
                      <a:srgbClr val="F0F3F5"/>
                    </a:solidFill>
                  </a:tcPr>
                </a:tc>
                <a:tc>
                  <a:txBody>
                    <a:bodyPr/>
                    <a:lstStyle/>
                    <a:p>
                      <a:pPr>
                        <a:defRPr sz="2500" b="0">
                          <a:solidFill>
                            <a:srgbClr val="202A32"/>
                          </a:solidFill>
                          <a:latin typeface="Arial"/>
                        </a:defRPr>
                      </a:pPr>
                      <a:r>
                        <a:t>[+0.02181; +0.04887]</a:t>
                      </a:r>
                    </a:p>
                  </a:txBody>
                  <a:tcPr marL="109728" marT="82296">
                    <a:solidFill>
                      <a:srgbClr val="F0F3F5"/>
                    </a:solidFill>
                  </a:tcPr>
                </a:tc>
              </a:tr>
              <a:tr h="777240">
                <a:tc>
                  <a:txBody>
                    <a:bodyPr/>
                    <a:lstStyle/>
                    <a:p>
                      <a:pPr>
                        <a:defRPr sz="2500" b="0">
                          <a:solidFill>
                            <a:srgbClr val="202A32"/>
                          </a:solidFill>
                          <a:latin typeface="Arial"/>
                        </a:defRPr>
                      </a:pPr>
                      <a:r>
                        <a:t>43</a:t>
                      </a:r>
                    </a:p>
                  </a:txBody>
                  <a:tcPr marL="109728" marT="82296">
                    <a:solidFill>
                      <a:srgbClr val="FFFFFF"/>
                    </a:solidFill>
                  </a:tcPr>
                </a:tc>
                <a:tc>
                  <a:txBody>
                    <a:bodyPr/>
                    <a:lstStyle/>
                    <a:p>
                      <a:pPr>
                        <a:defRPr sz="2500" b="0">
                          <a:solidFill>
                            <a:srgbClr val="202A32"/>
                          </a:solidFill>
                          <a:latin typeface="Arial"/>
                        </a:defRPr>
                      </a:pPr>
                      <a:r>
                        <a:t>+0.02527</a:t>
                      </a:r>
                    </a:p>
                  </a:txBody>
                  <a:tcPr marL="109728" marT="82296">
                    <a:solidFill>
                      <a:srgbClr val="FFFFFF"/>
                    </a:solidFill>
                  </a:tcPr>
                </a:tc>
                <a:tc>
                  <a:txBody>
                    <a:bodyPr/>
                    <a:lstStyle/>
                    <a:p>
                      <a:pPr>
                        <a:defRPr sz="2500" b="0">
                          <a:solidFill>
                            <a:srgbClr val="202A32"/>
                          </a:solidFill>
                          <a:latin typeface="Arial"/>
                        </a:defRPr>
                      </a:pPr>
                      <a:r>
                        <a:t>[+0.01298; +0.03779]</a:t>
                      </a:r>
                    </a:p>
                  </a:txBody>
                  <a:tcPr marL="109728" marT="82296">
                    <a:solidFill>
                      <a:srgbClr val="FFFFFF"/>
                    </a:solidFill>
                  </a:tcPr>
                </a:tc>
              </a:tr>
              <a:tr h="777240">
                <a:tc>
                  <a:txBody>
                    <a:bodyPr/>
                    <a:lstStyle/>
                    <a:p>
                      <a:pPr>
                        <a:defRPr sz="2500" b="0">
                          <a:solidFill>
                            <a:srgbClr val="202A32"/>
                          </a:solidFill>
                          <a:latin typeface="Arial"/>
                        </a:defRPr>
                      </a:pPr>
                      <a:r>
                        <a:t>44</a:t>
                      </a:r>
                    </a:p>
                  </a:txBody>
                  <a:tcPr marL="109728" marT="82296">
                    <a:solidFill>
                      <a:srgbClr val="F0F3F5"/>
                    </a:solidFill>
                  </a:tcPr>
                </a:tc>
                <a:tc>
                  <a:txBody>
                    <a:bodyPr/>
                    <a:lstStyle/>
                    <a:p>
                      <a:pPr>
                        <a:defRPr sz="2500" b="0">
                          <a:solidFill>
                            <a:srgbClr val="202A32"/>
                          </a:solidFill>
                          <a:latin typeface="Arial"/>
                        </a:defRPr>
                      </a:pPr>
                      <a:r>
                        <a:t>+0.02580</a:t>
                      </a:r>
                    </a:p>
                  </a:txBody>
                  <a:tcPr marL="109728" marT="82296">
                    <a:solidFill>
                      <a:srgbClr val="F0F3F5"/>
                    </a:solidFill>
                  </a:tcPr>
                </a:tc>
                <a:tc>
                  <a:txBody>
                    <a:bodyPr/>
                    <a:lstStyle/>
                    <a:p>
                      <a:pPr>
                        <a:defRPr sz="2500" b="0">
                          <a:solidFill>
                            <a:srgbClr val="202A32"/>
                          </a:solidFill>
                          <a:latin typeface="Arial"/>
                        </a:defRPr>
                      </a:pPr>
                      <a:r>
                        <a:t>[+0.01336; +0.03881]</a:t>
                      </a:r>
                    </a:p>
                  </a:txBody>
                  <a:tcPr marL="109728" marT="82296">
                    <a:solidFill>
                      <a:srgbClr val="F0F3F5"/>
                    </a:solidFill>
                  </a:tcPr>
                </a:tc>
              </a:tr>
            </a:tbl>
          </a:graphicData>
        </a:graphic>
      </p:graphicFrame>
      <p:sp>
        <p:nvSpPr>
          <p:cNvPr id="7" name="Rectangle 6"/>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Cả ba CI dương; cần thêm benchmark độc lập để kiểm tra tính tổng quát.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12. Đánh đổi: preference proxy giảm</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*/heldout_preference.json · Trung bình ba seed, 449 bộ ba mined giữ riêng</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13</a:t>
            </a:r>
          </a:p>
        </p:txBody>
      </p:sp>
      <p:pic>
        <p:nvPicPr>
          <p:cNvPr id="6" name="Picture 5" descr="preference.png"/>
          <p:cNvPicPr>
            <a:picLocks noChangeAspect="1"/>
          </p:cNvPicPr>
          <p:nvPr/>
        </p:nvPicPr>
        <p:blipFill>
          <a:blip r:embed="rId3"/>
          <a:stretch>
            <a:fillRect/>
          </a:stretch>
        </p:blipFill>
        <p:spPr>
          <a:xfrm>
            <a:off x="777240" y="1579746"/>
            <a:ext cx="6858000" cy="3789947"/>
          </a:xfrm>
          <a:prstGeom prst="rect">
            <a:avLst/>
          </a:prstGeom>
        </p:spPr>
      </p:pic>
      <p:sp>
        <p:nvSpPr>
          <p:cNvPr id="7" name="TextBox 6"/>
          <p:cNvSpPr txBox="1"/>
          <p:nvPr/>
        </p:nvSpPr>
        <p:spPr>
          <a:xfrm>
            <a:off x="7909560" y="2194560"/>
            <a:ext cx="3474720" cy="731520"/>
          </a:xfrm>
          <a:prstGeom prst="rect">
            <a:avLst/>
          </a:prstGeom>
          <a:noFill/>
        </p:spPr>
        <p:txBody>
          <a:bodyPr wrap="square" lIns="27432" rIns="27432" tIns="18288" bIns="18288">
            <a:spAutoFit/>
          </a:bodyPr>
          <a:lstStyle/>
          <a:p>
            <a:pPr>
              <a:spcAft>
                <a:spcPts val="1000"/>
              </a:spcAft>
              <a:defRPr sz="2600" b="1">
                <a:solidFill>
                  <a:srgbClr val="A44C47"/>
                </a:solidFill>
                <a:latin typeface="Arial"/>
              </a:defRPr>
            </a:pPr>
            <a:r>
              <a:t>0,44915 → 0,42910</a:t>
            </a:r>
          </a:p>
        </p:txBody>
      </p:sp>
      <p:sp>
        <p:nvSpPr>
          <p:cNvPr id="8" name="TextBox 7"/>
          <p:cNvSpPr txBox="1"/>
          <p:nvPr/>
        </p:nvSpPr>
        <p:spPr>
          <a:xfrm>
            <a:off x="7909560" y="3246120"/>
            <a:ext cx="3474720" cy="1737360"/>
          </a:xfrm>
          <a:prstGeom prst="rect">
            <a:avLst/>
          </a:prstGeom>
          <a:noFill/>
        </p:spPr>
        <p:txBody>
          <a:bodyPr wrap="square" lIns="27432" rIns="27432" tIns="18288" bIns="18288">
            <a:spAutoFit/>
          </a:bodyPr>
          <a:lstStyle/>
          <a:p>
            <a:pPr>
              <a:spcAft>
                <a:spcPts val="1000"/>
              </a:spcAft>
              <a:defRPr sz="2300" b="0">
                <a:solidFill>
                  <a:srgbClr val="202A32"/>
                </a:solidFill>
                <a:latin typeface="Arial"/>
              </a:defRPr>
            </a:pPr>
            <a:r>
              <a:t>SciFact tăng,</a:t>
            </a:r>
          </a:p>
          <a:p>
            <a:pPr>
              <a:spcAft>
                <a:spcPts val="1000"/>
              </a:spcAft>
              <a:defRPr sz="2300" b="0">
                <a:solidFill>
                  <a:srgbClr val="202A32"/>
                </a:solidFill>
                <a:latin typeface="Arial"/>
              </a:defRPr>
            </a:pPr>
            <a:r>
              <a:t>nhưng khớp nhãn mined giảm.</a:t>
            </a:r>
          </a:p>
        </p:txBody>
      </p:sp>
      <p:sp>
        <p:nvSpPr>
          <p:cNvPr id="9" name="Rectangle 8"/>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Chưa có temporal gold test nên chưa kết luận cải thiện temporal alignment.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13. Ablation và chi phí: chưa phải mọi phần đều tốt</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compare_ranking_only_full_seed42.json · */completed.json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14</a:t>
            </a:r>
          </a:p>
        </p:txBody>
      </p:sp>
      <p:graphicFrame>
        <p:nvGraphicFramePr>
          <p:cNvPr id="6" name="Table 5"/>
          <p:cNvGraphicFramePr>
            <a:graphicFrameLocks noGrp="1"/>
          </p:cNvGraphicFramePr>
          <p:nvPr/>
        </p:nvGraphicFramePr>
        <p:xfrm>
          <a:off x="777240" y="1554480"/>
          <a:ext cx="10607040" cy="3291840"/>
        </p:xfrm>
        <a:graphic>
          <a:graphicData uri="http://schemas.openxmlformats.org/drawingml/2006/table">
            <a:tbl>
              <a:tblPr firstRow="1" bandRow="1">
                <a:tableStyleId>{5C22544A-7EE6-4342-B048-85BDC9FD1C3A}</a:tableStyleId>
              </a:tblPr>
              <a:tblGrid>
                <a:gridCol w="2743200"/>
                <a:gridCol w="3931920"/>
                <a:gridCol w="3931920"/>
              </a:tblGrid>
              <a:tr h="822960">
                <a:tc>
                  <a:txBody>
                    <a:bodyPr/>
                    <a:lstStyle/>
                    <a:p>
                      <a:pPr>
                        <a:defRPr sz="2200" b="1">
                          <a:solidFill>
                            <a:srgbClr val="FFFFFF"/>
                          </a:solidFill>
                          <a:latin typeface="Arial"/>
                        </a:defRPr>
                      </a:pPr>
                      <a:r>
                        <a:t>Kiểm tra</a:t>
                      </a:r>
                    </a:p>
                  </a:txBody>
                  <a:tcPr marL="109728" marT="82296">
                    <a:solidFill>
                      <a:srgbClr val="233E57"/>
                    </a:solidFill>
                  </a:tcPr>
                </a:tc>
                <a:tc>
                  <a:txBody>
                    <a:bodyPr/>
                    <a:lstStyle/>
                    <a:p>
                      <a:pPr>
                        <a:defRPr sz="2200" b="1">
                          <a:solidFill>
                            <a:srgbClr val="FFFFFF"/>
                          </a:solidFill>
                          <a:latin typeface="Arial"/>
                        </a:defRPr>
                      </a:pPr>
                      <a:r>
                        <a:t>Kết quả</a:t>
                      </a:r>
                    </a:p>
                  </a:txBody>
                  <a:tcPr marL="109728" marT="82296">
                    <a:solidFill>
                      <a:srgbClr val="233E57"/>
                    </a:solidFill>
                  </a:tcPr>
                </a:tc>
                <a:tc>
                  <a:txBody>
                    <a:bodyPr/>
                    <a:lstStyle/>
                    <a:p>
                      <a:pPr>
                        <a:defRPr sz="2200" b="1">
                          <a:solidFill>
                            <a:srgbClr val="FFFFFF"/>
                          </a:solidFill>
                          <a:latin typeface="Arial"/>
                        </a:defRPr>
                      </a:pPr>
                      <a:r>
                        <a:t>Cách đọc</a:t>
                      </a:r>
                    </a:p>
                  </a:txBody>
                  <a:tcPr marL="109728" marT="82296">
                    <a:solidFill>
                      <a:srgbClr val="233E57"/>
                    </a:solidFill>
                  </a:tcPr>
                </a:tc>
              </a:tr>
              <a:tr h="822960">
                <a:tc>
                  <a:txBody>
                    <a:bodyPr/>
                    <a:lstStyle/>
                    <a:p>
                      <a:pPr>
                        <a:defRPr sz="2200" b="0">
                          <a:solidFill>
                            <a:srgbClr val="202A32"/>
                          </a:solidFill>
                          <a:latin typeface="Arial"/>
                        </a:defRPr>
                      </a:pPr>
                      <a:r>
                        <a:t>MSE thêm vào KL</a:t>
                      </a:r>
                    </a:p>
                  </a:txBody>
                  <a:tcPr marL="109728" marT="82296">
                    <a:solidFill>
                      <a:srgbClr val="F0F3F5"/>
                    </a:solidFill>
                  </a:tcPr>
                </a:tc>
                <a:tc>
                  <a:txBody>
                    <a:bodyPr/>
                    <a:lstStyle/>
                    <a:p>
                      <a:pPr>
                        <a:defRPr sz="2200" b="0">
                          <a:solidFill>
                            <a:srgbClr val="202A32"/>
                          </a:solidFill>
                          <a:latin typeface="Arial"/>
                        </a:defRPr>
                      </a:pPr>
                      <a:r>
                        <a:t>Delta +0,00212; CI chứa 0</a:t>
                      </a:r>
                    </a:p>
                  </a:txBody>
                  <a:tcPr marL="109728" marT="82296">
                    <a:solidFill>
                      <a:srgbClr val="F0F3F5"/>
                    </a:solidFill>
                  </a:tcPr>
                </a:tc>
                <a:tc>
                  <a:txBody>
                    <a:bodyPr/>
                    <a:lstStyle/>
                    <a:p>
                      <a:pPr>
                        <a:defRPr sz="2200" b="0">
                          <a:solidFill>
                            <a:srgbClr val="202A32"/>
                          </a:solidFill>
                          <a:latin typeface="Arial"/>
                        </a:defRPr>
                      </a:pPr>
                      <a:r>
                        <a:t>Chưa rõ lợi ích riêng</a:t>
                      </a:r>
                    </a:p>
                  </a:txBody>
                  <a:tcPr marL="109728" marT="82296">
                    <a:solidFill>
                      <a:srgbClr val="F0F3F5"/>
                    </a:solidFill>
                  </a:tcPr>
                </a:tc>
              </a:tr>
              <a:tr h="822960">
                <a:tc>
                  <a:txBody>
                    <a:bodyPr/>
                    <a:lstStyle/>
                    <a:p>
                      <a:pPr>
                        <a:defRPr sz="2200" b="0">
                          <a:solidFill>
                            <a:srgbClr val="202A32"/>
                          </a:solidFill>
                          <a:latin typeface="Arial"/>
                        </a:defRPr>
                      </a:pPr>
                      <a:r>
                        <a:t>Train trung bình</a:t>
                      </a:r>
                    </a:p>
                  </a:txBody>
                  <a:tcPr marL="109728" marT="82296">
                    <a:solidFill>
                      <a:srgbClr val="FFFFFF"/>
                    </a:solidFill>
                  </a:tcPr>
                </a:tc>
                <a:tc>
                  <a:txBody>
                    <a:bodyPr/>
                    <a:lstStyle/>
                    <a:p>
                      <a:pPr>
                        <a:defRPr sz="2200" b="0">
                          <a:solidFill>
                            <a:srgbClr val="202A32"/>
                          </a:solidFill>
                          <a:latin typeface="Arial"/>
                        </a:defRPr>
                      </a:pPr>
                      <a:r>
                        <a:t>332,2 → 385,3 giây</a:t>
                      </a:r>
                    </a:p>
                  </a:txBody>
                  <a:tcPr marL="109728" marT="82296">
                    <a:solidFill>
                      <a:srgbClr val="FFFFFF"/>
                    </a:solidFill>
                  </a:tcPr>
                </a:tc>
                <a:tc>
                  <a:txBody>
                    <a:bodyPr/>
                    <a:lstStyle/>
                    <a:p>
                      <a:pPr>
                        <a:defRPr sz="2200" b="0">
                          <a:solidFill>
                            <a:srgbClr val="202A32"/>
                          </a:solidFill>
                          <a:latin typeface="Arial"/>
                        </a:defRPr>
                      </a:pPr>
                      <a:r>
                        <a:t>Tăng khoảng 16%</a:t>
                      </a:r>
                    </a:p>
                  </a:txBody>
                  <a:tcPr marL="109728" marT="82296">
                    <a:solidFill>
                      <a:srgbClr val="FFFFFF"/>
                    </a:solidFill>
                  </a:tcPr>
                </a:tc>
              </a:tr>
              <a:tr h="822960">
                <a:tc>
                  <a:txBody>
                    <a:bodyPr/>
                    <a:lstStyle/>
                    <a:p>
                      <a:pPr>
                        <a:defRPr sz="2200" b="0">
                          <a:solidFill>
                            <a:srgbClr val="202A32"/>
                          </a:solidFill>
                          <a:latin typeface="Arial"/>
                        </a:defRPr>
                      </a:pPr>
                      <a:r>
                        <a:t>Peak allocated</a:t>
                      </a:r>
                    </a:p>
                  </a:txBody>
                  <a:tcPr marL="109728" marT="82296">
                    <a:solidFill>
                      <a:srgbClr val="F0F3F5"/>
                    </a:solidFill>
                  </a:tcPr>
                </a:tc>
                <a:tc>
                  <a:txBody>
                    <a:bodyPr/>
                    <a:lstStyle/>
                    <a:p>
                      <a:pPr>
                        <a:defRPr sz="2200" b="0">
                          <a:solidFill>
                            <a:srgbClr val="202A32"/>
                          </a:solidFill>
                          <a:latin typeface="Arial"/>
                        </a:defRPr>
                      </a:pPr>
                      <a:r>
                        <a:t>2,51 → 2,92 GiB</a:t>
                      </a:r>
                    </a:p>
                  </a:txBody>
                  <a:tcPr marL="109728" marT="82296">
                    <a:solidFill>
                      <a:srgbClr val="F0F3F5"/>
                    </a:solidFill>
                  </a:tcPr>
                </a:tc>
                <a:tc>
                  <a:txBody>
                    <a:bodyPr/>
                    <a:lstStyle/>
                    <a:p>
                      <a:pPr>
                        <a:defRPr sz="2200" b="0">
                          <a:solidFill>
                            <a:srgbClr val="202A32"/>
                          </a:solidFill>
                          <a:latin typeface="Arial"/>
                        </a:defRPr>
                      </a:pPr>
                      <a:r>
                        <a:t>Chỉ bộ nhớ được PyTorch cấp phát</a:t>
                      </a:r>
                    </a:p>
                  </a:txBody>
                  <a:tcPr marL="109728" marT="82296">
                    <a:solidFill>
                      <a:srgbClr val="F0F3F5"/>
                    </a:solidFill>
                  </a:tcPr>
                </a:tc>
              </a:tr>
            </a:tbl>
          </a:graphicData>
        </a:graphic>
      </p:graphicFrame>
      <p:sp>
        <p:nvSpPr>
          <p:cNvPr id="7" name="Rectangle 6"/>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Ablation mới một seed; chi phí trên chưa tính tải model và đánh giá.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14. Demo checkpoint: đã chạy inference thật</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results/anchored_kaggle/live_demo/anchored_custom_query.json · verification.json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15</a:t>
            </a:r>
          </a:p>
        </p:txBody>
      </p:sp>
      <p:sp>
        <p:nvSpPr>
          <p:cNvPr id="6" name="TextBox 5"/>
          <p:cNvSpPr txBox="1"/>
          <p:nvPr/>
        </p:nvSpPr>
        <p:spPr>
          <a:xfrm>
            <a:off x="822960" y="1325880"/>
            <a:ext cx="10515600" cy="960120"/>
          </a:xfrm>
          <a:prstGeom prst="rect">
            <a:avLst/>
          </a:prstGeom>
          <a:noFill/>
        </p:spPr>
        <p:txBody>
          <a:bodyPr wrap="square" lIns="27432" rIns="27432" tIns="18288" bIns="18288">
            <a:spAutoFit/>
          </a:bodyPr>
          <a:lstStyle/>
          <a:p>
            <a:pPr>
              <a:spcAft>
                <a:spcPts val="1000"/>
              </a:spcAft>
              <a:defRPr sz="2300" b="1">
                <a:solidFill>
                  <a:srgbClr val="202A32"/>
                </a:solidFill>
                <a:latin typeface="Arial"/>
              </a:defRPr>
            </a:pPr>
            <a:r>
              <a:t>Query mới: What influences the mechanical properties of biological materials?</a:t>
            </a:r>
          </a:p>
        </p:txBody>
      </p:sp>
      <p:graphicFrame>
        <p:nvGraphicFramePr>
          <p:cNvPr id="7" name="Table 6"/>
          <p:cNvGraphicFramePr>
            <a:graphicFrameLocks noGrp="1"/>
          </p:cNvGraphicFramePr>
          <p:nvPr/>
        </p:nvGraphicFramePr>
        <p:xfrm>
          <a:off x="777240" y="2606040"/>
          <a:ext cx="10607040" cy="2926080"/>
        </p:xfrm>
        <a:graphic>
          <a:graphicData uri="http://schemas.openxmlformats.org/drawingml/2006/table">
            <a:tbl>
              <a:tblPr firstRow="1" bandRow="1">
                <a:tableStyleId>{5C22544A-7EE6-4342-B048-85BDC9FD1C3A}</a:tableStyleId>
              </a:tblPr>
              <a:tblGrid>
                <a:gridCol w="1097280"/>
                <a:gridCol w="9509760"/>
              </a:tblGrid>
              <a:tr h="731520">
                <a:tc>
                  <a:txBody>
                    <a:bodyPr/>
                    <a:lstStyle/>
                    <a:p>
                      <a:pPr>
                        <a:defRPr sz="2100" b="1">
                          <a:solidFill>
                            <a:srgbClr val="FFFFFF"/>
                          </a:solidFill>
                          <a:latin typeface="Arial"/>
                        </a:defRPr>
                      </a:pPr>
                      <a:r>
                        <a:t>Hạng</a:t>
                      </a:r>
                    </a:p>
                  </a:txBody>
                  <a:tcPr marL="109728" marT="82296">
                    <a:solidFill>
                      <a:srgbClr val="233E57"/>
                    </a:solidFill>
                  </a:tcPr>
                </a:tc>
                <a:tc>
                  <a:txBody>
                    <a:bodyPr/>
                    <a:lstStyle/>
                    <a:p>
                      <a:pPr>
                        <a:defRPr sz="2100" b="1">
                          <a:solidFill>
                            <a:srgbClr val="FFFFFF"/>
                          </a:solidFill>
                          <a:latin typeface="Arial"/>
                        </a:defRPr>
                      </a:pPr>
                      <a:r>
                        <a:t>Tiêu đề tài liệu trả về</a:t>
                      </a:r>
                    </a:p>
                  </a:txBody>
                  <a:tcPr marL="109728" marT="82296">
                    <a:solidFill>
                      <a:srgbClr val="233E57"/>
                    </a:solidFill>
                  </a:tcPr>
                </a:tc>
              </a:tr>
              <a:tr h="731520">
                <a:tc>
                  <a:txBody>
                    <a:bodyPr/>
                    <a:lstStyle/>
                    <a:p>
                      <a:pPr>
                        <a:defRPr sz="2100" b="0">
                          <a:solidFill>
                            <a:srgbClr val="202A32"/>
                          </a:solidFill>
                          <a:latin typeface="Arial"/>
                        </a:defRPr>
                      </a:pPr>
                      <a:r>
                        <a:t>1</a:t>
                      </a:r>
                    </a:p>
                  </a:txBody>
                  <a:tcPr marL="109728" marT="82296">
                    <a:solidFill>
                      <a:srgbClr val="F0F3F5"/>
                    </a:solidFill>
                  </a:tcPr>
                </a:tc>
                <a:tc>
                  <a:txBody>
                    <a:bodyPr/>
                    <a:lstStyle/>
                    <a:p>
                      <a:pPr>
                        <a:defRPr sz="2100" b="0">
                          <a:solidFill>
                            <a:srgbClr val="202A32"/>
                          </a:solidFill>
                          <a:latin typeface="Arial"/>
                        </a:defRPr>
                      </a:pPr>
                      <a:r>
                        <a:t>Periosteal bone formation--a neglected determinant of bone strength.</a:t>
                      </a:r>
                    </a:p>
                  </a:txBody>
                  <a:tcPr marL="109728" marT="82296">
                    <a:solidFill>
                      <a:srgbClr val="F0F3F5"/>
                    </a:solidFill>
                  </a:tcPr>
                </a:tc>
              </a:tr>
              <a:tr h="731520">
                <a:tc>
                  <a:txBody>
                    <a:bodyPr/>
                    <a:lstStyle/>
                    <a:p>
                      <a:pPr>
                        <a:defRPr sz="2100" b="0">
                          <a:solidFill>
                            <a:srgbClr val="202A32"/>
                          </a:solidFill>
                          <a:latin typeface="Arial"/>
                        </a:defRPr>
                      </a:pPr>
                      <a:r>
                        <a:t>2</a:t>
                      </a:r>
                    </a:p>
                  </a:txBody>
                  <a:tcPr marL="109728" marT="82296">
                    <a:solidFill>
                      <a:srgbClr val="FFFFFF"/>
                    </a:solidFill>
                  </a:tcPr>
                </a:tc>
                <a:tc>
                  <a:txBody>
                    <a:bodyPr/>
                    <a:lstStyle/>
                    <a:p>
                      <a:pPr>
                        <a:defRPr sz="2100" b="0">
                          <a:solidFill>
                            <a:srgbClr val="202A32"/>
                          </a:solidFill>
                          <a:latin typeface="Arial"/>
                        </a:defRPr>
                      </a:pPr>
                      <a:r>
                        <a:t>Dynamics in the plasma membrane: how to combine fluidity and order.</a:t>
                      </a:r>
                    </a:p>
                  </a:txBody>
                  <a:tcPr marL="109728" marT="82296">
                    <a:solidFill>
                      <a:srgbClr val="FFFFFF"/>
                    </a:solidFill>
                  </a:tcPr>
                </a:tc>
              </a:tr>
              <a:tr h="731520">
                <a:tc>
                  <a:txBody>
                    <a:bodyPr/>
                    <a:lstStyle/>
                    <a:p>
                      <a:pPr>
                        <a:defRPr sz="2100" b="0">
                          <a:solidFill>
                            <a:srgbClr val="202A32"/>
                          </a:solidFill>
                          <a:latin typeface="Arial"/>
                        </a:defRPr>
                      </a:pPr>
                      <a:r>
                        <a:t>3</a:t>
                      </a:r>
                    </a:p>
                  </a:txBody>
                  <a:tcPr marL="109728" marT="82296">
                    <a:solidFill>
                      <a:srgbClr val="F0F3F5"/>
                    </a:solidFill>
                  </a:tcPr>
                </a:tc>
                <a:tc>
                  <a:txBody>
                    <a:bodyPr/>
                    <a:lstStyle/>
                    <a:p>
                      <a:pPr>
                        <a:defRPr sz="2100" b="0">
                          <a:solidFill>
                            <a:srgbClr val="202A32"/>
                          </a:solidFill>
                          <a:latin typeface="Arial"/>
                        </a:defRPr>
                      </a:pPr>
                      <a:r>
                        <a:t>Emergent structures and dynamics of cell colonies by contact inhibition of locomotion</a:t>
                      </a:r>
                    </a:p>
                  </a:txBody>
                  <a:tcPr marL="109728" marT="82296">
                    <a:solidFill>
                      <a:srgbClr val="F0F3F5"/>
                    </a:solidFill>
                  </a:tcPr>
                </a:tc>
              </a:tr>
            </a:tbl>
          </a:graphicData>
        </a:graphic>
      </p:graphicFrame>
      <p:sp>
        <p:nvSpPr>
          <p:cNvPr id="8" name="Rectangle 7"/>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Query mới chạy bằng student; chưa có gold labels nên không báo accuracy.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15. Demo tốt và xấu đều phải trình bày</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results/anchored_kaggle/demo/ranking_examples.json · Seed 42 · Ví dụ chọn sau đánh giá</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16</a:t>
            </a:r>
          </a:p>
        </p:txBody>
      </p:sp>
      <p:sp>
        <p:nvSpPr>
          <p:cNvPr id="6" name="TextBox 5"/>
          <p:cNvSpPr txBox="1"/>
          <p:nvPr/>
        </p:nvSpPr>
        <p:spPr>
          <a:xfrm>
            <a:off x="822960" y="1417320"/>
            <a:ext cx="2011680" cy="457200"/>
          </a:xfrm>
          <a:prstGeom prst="rect">
            <a:avLst/>
          </a:prstGeom>
          <a:noFill/>
        </p:spPr>
        <p:txBody>
          <a:bodyPr wrap="square" lIns="27432" rIns="27432" tIns="18288" bIns="18288">
            <a:spAutoFit/>
          </a:bodyPr>
          <a:lstStyle/>
          <a:p>
            <a:pPr>
              <a:spcAft>
                <a:spcPts val="1000"/>
              </a:spcAft>
              <a:defRPr sz="2300" b="1">
                <a:solidFill>
                  <a:srgbClr val="233E57"/>
                </a:solidFill>
                <a:latin typeface="Arial"/>
              </a:defRPr>
            </a:pPr>
            <a:r>
              <a:t>Query 1282</a:t>
            </a:r>
          </a:p>
        </p:txBody>
      </p:sp>
      <p:sp>
        <p:nvSpPr>
          <p:cNvPr id="7" name="TextBox 6"/>
          <p:cNvSpPr txBox="1"/>
          <p:nvPr/>
        </p:nvSpPr>
        <p:spPr>
          <a:xfrm>
            <a:off x="2834640" y="1417320"/>
            <a:ext cx="8503920" cy="868680"/>
          </a:xfrm>
          <a:prstGeom prst="rect">
            <a:avLst/>
          </a:prstGeom>
          <a:noFill/>
        </p:spPr>
        <p:txBody>
          <a:bodyPr wrap="square" lIns="27432" rIns="27432" tIns="18288" bIns="18288">
            <a:spAutoFit/>
          </a:bodyPr>
          <a:lstStyle/>
          <a:p>
            <a:pPr>
              <a:spcAft>
                <a:spcPts val="1000"/>
              </a:spcAft>
              <a:defRPr sz="2000" b="0">
                <a:solidFill>
                  <a:srgbClr val="202A32"/>
                </a:solidFill>
                <a:latin typeface="Arial"/>
              </a:defRPr>
            </a:pPr>
            <a:r>
              <a:t>Therapeutic use of the drug Dapsone to treat pyoderma gangrenous is based on anecdotal evidence.</a:t>
            </a:r>
          </a:p>
        </p:txBody>
      </p:sp>
      <p:sp>
        <p:nvSpPr>
          <p:cNvPr id="8" name="TextBox 7"/>
          <p:cNvSpPr txBox="1"/>
          <p:nvPr/>
        </p:nvSpPr>
        <p:spPr>
          <a:xfrm>
            <a:off x="2834640" y="2331720"/>
            <a:ext cx="8503920" cy="457200"/>
          </a:xfrm>
          <a:prstGeom prst="rect">
            <a:avLst/>
          </a:prstGeom>
          <a:noFill/>
        </p:spPr>
        <p:txBody>
          <a:bodyPr wrap="square" lIns="27432" rIns="27432" tIns="18288" bIns="18288">
            <a:spAutoFit/>
          </a:bodyPr>
          <a:lstStyle/>
          <a:p>
            <a:pPr>
              <a:spcAft>
                <a:spcPts val="1000"/>
              </a:spcAft>
              <a:defRPr sz="2400" b="1">
                <a:solidFill>
                  <a:srgbClr val="A44C47"/>
                </a:solidFill>
                <a:latin typeface="Arial"/>
              </a:defRPr>
            </a:pPr>
            <a:r>
              <a:t>Delta nDCG@10: +0.50000</a:t>
            </a:r>
          </a:p>
        </p:txBody>
      </p:sp>
      <p:sp>
        <p:nvSpPr>
          <p:cNvPr id="9" name="TextBox 8"/>
          <p:cNvSpPr txBox="1"/>
          <p:nvPr/>
        </p:nvSpPr>
        <p:spPr>
          <a:xfrm>
            <a:off x="822960" y="3474720"/>
            <a:ext cx="2011680" cy="457200"/>
          </a:xfrm>
          <a:prstGeom prst="rect">
            <a:avLst/>
          </a:prstGeom>
          <a:noFill/>
        </p:spPr>
        <p:txBody>
          <a:bodyPr wrap="square" lIns="27432" rIns="27432" tIns="18288" bIns="18288">
            <a:spAutoFit/>
          </a:bodyPr>
          <a:lstStyle/>
          <a:p>
            <a:pPr>
              <a:spcAft>
                <a:spcPts val="1000"/>
              </a:spcAft>
              <a:defRPr sz="2300" b="1">
                <a:solidFill>
                  <a:srgbClr val="233E57"/>
                </a:solidFill>
                <a:latin typeface="Arial"/>
              </a:defRPr>
            </a:pPr>
            <a:r>
              <a:t>Query 314</a:t>
            </a:r>
          </a:p>
        </p:txBody>
      </p:sp>
      <p:sp>
        <p:nvSpPr>
          <p:cNvPr id="10" name="TextBox 9"/>
          <p:cNvSpPr txBox="1"/>
          <p:nvPr/>
        </p:nvSpPr>
        <p:spPr>
          <a:xfrm>
            <a:off x="2834640" y="3474720"/>
            <a:ext cx="8503920" cy="868680"/>
          </a:xfrm>
          <a:prstGeom prst="rect">
            <a:avLst/>
          </a:prstGeom>
          <a:noFill/>
        </p:spPr>
        <p:txBody>
          <a:bodyPr wrap="square" lIns="27432" rIns="27432" tIns="18288" bIns="18288">
            <a:spAutoFit/>
          </a:bodyPr>
          <a:lstStyle/>
          <a:p>
            <a:pPr>
              <a:spcAft>
                <a:spcPts val="1000"/>
              </a:spcAft>
              <a:defRPr sz="2000" b="0">
                <a:solidFill>
                  <a:srgbClr val="202A32"/>
                </a:solidFill>
                <a:latin typeface="Arial"/>
              </a:defRPr>
            </a:pPr>
            <a:r>
              <a:t>Deamination of cytidine to uridine on the minus strand of viral DNA results in catastrophic G-to-A mutations in the viral genome.</a:t>
            </a:r>
          </a:p>
        </p:txBody>
      </p:sp>
      <p:sp>
        <p:nvSpPr>
          <p:cNvPr id="11" name="TextBox 10"/>
          <p:cNvSpPr txBox="1"/>
          <p:nvPr/>
        </p:nvSpPr>
        <p:spPr>
          <a:xfrm>
            <a:off x="2834640" y="4389120"/>
            <a:ext cx="8503920" cy="457200"/>
          </a:xfrm>
          <a:prstGeom prst="rect">
            <a:avLst/>
          </a:prstGeom>
          <a:noFill/>
        </p:spPr>
        <p:txBody>
          <a:bodyPr wrap="square" lIns="27432" rIns="27432" tIns="18288" bIns="18288">
            <a:spAutoFit/>
          </a:bodyPr>
          <a:lstStyle/>
          <a:p>
            <a:pPr>
              <a:spcAft>
                <a:spcPts val="1000"/>
              </a:spcAft>
              <a:defRPr sz="2400" b="1">
                <a:solidFill>
                  <a:srgbClr val="A44C47"/>
                </a:solidFill>
                <a:latin typeface="Arial"/>
              </a:defRPr>
            </a:pPr>
            <a:r>
              <a:t>Delta nDCG@10: -0.38685</a:t>
            </a:r>
          </a:p>
        </p:txBody>
      </p:sp>
      <p:sp>
        <p:nvSpPr>
          <p:cNvPr id="12" name="Rectangle 11"/>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Ví dụ minh họa không thay thế số liệu của đủ 300 truy vấn.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16. Đóng góp và phần chưa hoàn tất</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Báo cáo Chương 3.10 và 5 · verification.json · 14 kiểm tra code</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17</a:t>
            </a:r>
          </a:p>
        </p:txBody>
      </p:sp>
      <p:graphicFrame>
        <p:nvGraphicFramePr>
          <p:cNvPr id="6" name="Table 5"/>
          <p:cNvGraphicFramePr>
            <a:graphicFrameLocks noGrp="1"/>
          </p:cNvGraphicFramePr>
          <p:nvPr/>
        </p:nvGraphicFramePr>
        <p:xfrm>
          <a:off x="777240" y="1554480"/>
          <a:ext cx="10607040" cy="3840480"/>
        </p:xfrm>
        <a:graphic>
          <a:graphicData uri="http://schemas.openxmlformats.org/drawingml/2006/table">
            <a:tbl>
              <a:tblPr firstRow="1" bandRow="1">
                <a:tableStyleId>{5C22544A-7EE6-4342-B048-85BDC9FD1C3A}</a:tableStyleId>
              </a:tblPr>
              <a:tblGrid>
                <a:gridCol w="5303520"/>
                <a:gridCol w="5303520"/>
              </a:tblGrid>
              <a:tr h="768096">
                <a:tc>
                  <a:txBody>
                    <a:bodyPr/>
                    <a:lstStyle/>
                    <a:p>
                      <a:pPr>
                        <a:defRPr sz="2300" b="1">
                          <a:solidFill>
                            <a:srgbClr val="FFFFFF"/>
                          </a:solidFill>
                          <a:latin typeface="Arial"/>
                        </a:defRPr>
                      </a:pPr>
                      <a:r>
                        <a:t>Đã thực hiện</a:t>
                      </a:r>
                    </a:p>
                  </a:txBody>
                  <a:tcPr marL="109728" marT="82296">
                    <a:solidFill>
                      <a:srgbClr val="233E57"/>
                    </a:solidFill>
                  </a:tcPr>
                </a:tc>
                <a:tc>
                  <a:txBody>
                    <a:bodyPr/>
                    <a:lstStyle/>
                    <a:p>
                      <a:pPr>
                        <a:defRPr sz="2300" b="1">
                          <a:solidFill>
                            <a:srgbClr val="FFFFFF"/>
                          </a:solidFill>
                          <a:latin typeface="Arial"/>
                        </a:defRPr>
                      </a:pPr>
                      <a:r>
                        <a:t>Chưa có bằng chứng đầy đủ</a:t>
                      </a:r>
                    </a:p>
                  </a:txBody>
                  <a:tcPr marL="109728" marT="82296">
                    <a:solidFill>
                      <a:srgbClr val="233E57"/>
                    </a:solidFill>
                  </a:tcPr>
                </a:tc>
              </a:tr>
              <a:tr h="768096">
                <a:tc>
                  <a:txBody>
                    <a:bodyPr/>
                    <a:lstStyle/>
                    <a:p>
                      <a:pPr>
                        <a:defRPr sz="2300" b="0">
                          <a:solidFill>
                            <a:srgbClr val="202A32"/>
                          </a:solidFill>
                          <a:latin typeface="Arial"/>
                        </a:defRPr>
                      </a:pPr>
                      <a:r>
                        <a:t>Dữ liệu thật, runner và provenance</a:t>
                      </a:r>
                    </a:p>
                  </a:txBody>
                  <a:tcPr marL="109728" marT="82296">
                    <a:solidFill>
                      <a:srgbClr val="F0F3F5"/>
                    </a:solidFill>
                  </a:tcPr>
                </a:tc>
                <a:tc>
                  <a:txBody>
                    <a:bodyPr/>
                    <a:lstStyle/>
                    <a:p>
                      <a:pPr>
                        <a:defRPr sz="2300" b="0">
                          <a:solidFill>
                            <a:srgbClr val="202A32"/>
                          </a:solidFill>
                          <a:latin typeface="Arial"/>
                        </a:defRPr>
                      </a:pPr>
                      <a:r>
                        <a:t>Tái lập toàn bộ quy mô bài báo</a:t>
                      </a:r>
                    </a:p>
                  </a:txBody>
                  <a:tcPr marL="109728" marT="82296">
                    <a:solidFill>
                      <a:srgbClr val="F0F3F5"/>
                    </a:solidFill>
                  </a:tcPr>
                </a:tc>
              </a:tr>
              <a:tr h="768096">
                <a:tc>
                  <a:txBody>
                    <a:bodyPr/>
                    <a:lstStyle/>
                    <a:p>
                      <a:pPr>
                        <a:defRPr sz="2300" b="0">
                          <a:solidFill>
                            <a:srgbClr val="202A32"/>
                          </a:solidFill>
                          <a:latin typeface="Arial"/>
                        </a:defRPr>
                      </a:pPr>
                      <a:r>
                        <a:t>Teacher + retention, ba seed và ablation</a:t>
                      </a:r>
                    </a:p>
                  </a:txBody>
                  <a:tcPr marL="109728" marT="82296">
                    <a:solidFill>
                      <a:srgbClr val="FFFFFF"/>
                    </a:solidFill>
                  </a:tcPr>
                </a:tc>
                <a:tc>
                  <a:txBody>
                    <a:bodyPr/>
                    <a:lstStyle/>
                    <a:p>
                      <a:pPr>
                        <a:defRPr sz="2300" b="0">
                          <a:solidFill>
                            <a:srgbClr val="202A32"/>
                          </a:solidFill>
                          <a:latin typeface="Arial"/>
                        </a:defRPr>
                      </a:pPr>
                      <a:r>
                        <a:t>Vượt Contriever gốc</a:t>
                      </a:r>
                    </a:p>
                  </a:txBody>
                  <a:tcPr marL="109728" marT="82296">
                    <a:solidFill>
                      <a:srgbClr val="FFFFFF"/>
                    </a:solidFill>
                  </a:tcPr>
                </a:tc>
              </a:tr>
              <a:tr h="768096">
                <a:tc>
                  <a:txBody>
                    <a:bodyPr/>
                    <a:lstStyle/>
                    <a:p>
                      <a:pPr>
                        <a:defRPr sz="2300" b="0">
                          <a:solidFill>
                            <a:srgbClr val="202A32"/>
                          </a:solidFill>
                          <a:latin typeface="Arial"/>
                        </a:defRPr>
                      </a:pPr>
                      <a:r>
                        <a:t>Full SciFact và checkpoint inference</a:t>
                      </a:r>
                    </a:p>
                  </a:txBody>
                  <a:tcPr marL="109728" marT="82296">
                    <a:solidFill>
                      <a:srgbClr val="F0F3F5"/>
                    </a:solidFill>
                  </a:tcPr>
                </a:tc>
                <a:tc>
                  <a:txBody>
                    <a:bodyPr/>
                    <a:lstStyle/>
                    <a:p>
                      <a:pPr>
                        <a:defRPr sz="2300" b="0">
                          <a:solidFill>
                            <a:srgbClr val="202A32"/>
                          </a:solidFill>
                          <a:latin typeface="Arial"/>
                        </a:defRPr>
                      </a:pPr>
                      <a:r>
                        <a:t>Cải thiện temporal QA độc lập</a:t>
                      </a:r>
                    </a:p>
                  </a:txBody>
                  <a:tcPr marL="109728" marT="82296">
                    <a:solidFill>
                      <a:srgbClr val="F0F3F5"/>
                    </a:solidFill>
                  </a:tcPr>
                </a:tc>
              </a:tr>
              <a:tr h="768096">
                <a:tc>
                  <a:txBody>
                    <a:bodyPr/>
                    <a:lstStyle/>
                    <a:p>
                      <a:pPr>
                        <a:defRPr sz="2300" b="0">
                          <a:solidFill>
                            <a:srgbClr val="202A32"/>
                          </a:solidFill>
                          <a:latin typeface="Arial"/>
                        </a:defRPr>
                      </a:pPr>
                      <a:r>
                        <a:t>Báo cả kết quả tăng và giảm</a:t>
                      </a:r>
                    </a:p>
                  </a:txBody>
                  <a:tcPr marL="109728" marT="82296">
                    <a:solidFill>
                      <a:srgbClr val="FFFFFF"/>
                    </a:solidFill>
                  </a:tcPr>
                </a:tc>
                <a:tc>
                  <a:txBody>
                    <a:bodyPr/>
                    <a:lstStyle/>
                    <a:p>
                      <a:pPr>
                        <a:defRPr sz="2300" b="0">
                          <a:solidFill>
                            <a:srgbClr val="202A32"/>
                          </a:solidFill>
                          <a:latin typeface="Arial"/>
                        </a:defRPr>
                      </a:pPr>
                      <a:r>
                        <a:t>Tính mới học thuật của phương pháp</a:t>
                      </a:r>
                    </a:p>
                  </a:txBody>
                  <a:tcPr marL="109728" marT="82296">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17. Hướng tiếp theo: kiểm tra đúng mục tiêu trước</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Báo cáo Chương 5.5–5.6 · Các bước đề xuất chưa thực hiện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18</a:t>
            </a:r>
          </a:p>
        </p:txBody>
      </p:sp>
      <p:sp>
        <p:nvSpPr>
          <p:cNvPr id="6" name="TextBox 5"/>
          <p:cNvSpPr txBox="1"/>
          <p:nvPr/>
        </p:nvSpPr>
        <p:spPr>
          <a:xfrm>
            <a:off x="777240" y="146304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7" name="TextBox 6"/>
          <p:cNvSpPr txBox="1"/>
          <p:nvPr/>
        </p:nvSpPr>
        <p:spPr>
          <a:xfrm>
            <a:off x="1097280" y="1463040"/>
            <a:ext cx="10287000" cy="82296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Thẩm định mined labels và xây temporal gold test độc lập.</a:t>
            </a:r>
          </a:p>
        </p:txBody>
      </p:sp>
      <p:sp>
        <p:nvSpPr>
          <p:cNvPr id="8" name="TextBox 7"/>
          <p:cNvSpPr txBox="1"/>
          <p:nvPr/>
        </p:nvSpPr>
        <p:spPr>
          <a:xfrm>
            <a:off x="777240" y="237744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9" name="TextBox 8"/>
          <p:cNvSpPr txBox="1"/>
          <p:nvPr/>
        </p:nvSpPr>
        <p:spPr>
          <a:xfrm>
            <a:off x="1097280" y="2377440"/>
            <a:ext cx="10287000" cy="82296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Đánh giá benchmark mới; lặp ablation trên nhiều seed.</a:t>
            </a:r>
          </a:p>
        </p:txBody>
      </p:sp>
      <p:sp>
        <p:nvSpPr>
          <p:cNvPr id="10" name="TextBox 9"/>
          <p:cNvSpPr txBox="1"/>
          <p:nvPr/>
        </p:nvSpPr>
        <p:spPr>
          <a:xfrm>
            <a:off x="777240" y="329184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11" name="TextBox 10"/>
          <p:cNvSpPr txBox="1"/>
          <p:nvPr/>
        </p:nvSpPr>
        <p:spPr>
          <a:xfrm>
            <a:off x="1097280" y="3291840"/>
            <a:ext cx="10287000" cy="82296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Thử retention có điều kiện để giảm cản trở cập nhật mới.</a:t>
            </a:r>
          </a:p>
        </p:txBody>
      </p:sp>
      <p:sp>
        <p:nvSpPr>
          <p:cNvPr id="12" name="TextBox 11"/>
          <p:cNvSpPr txBox="1"/>
          <p:nvPr/>
        </p:nvSpPr>
        <p:spPr>
          <a:xfrm>
            <a:off x="777240" y="420624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13" name="TextBox 12"/>
          <p:cNvSpPr txBox="1"/>
          <p:nvPr/>
        </p:nvSpPr>
        <p:spPr>
          <a:xfrm>
            <a:off x="1097280" y="4206240"/>
            <a:ext cx="10287000" cy="82296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Đo đồng thời temporal quality, retrieval tổng quát và chi phí.</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18. Kết luận</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Kết luận từ số liệu đã chạy · Không bổ sung kết quả chưa thực hiện</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19</a:t>
            </a:r>
          </a:p>
        </p:txBody>
      </p:sp>
      <p:sp>
        <p:nvSpPr>
          <p:cNvPr id="6" name="TextBox 5"/>
          <p:cNvSpPr txBox="1"/>
          <p:nvPr/>
        </p:nvSpPr>
        <p:spPr>
          <a:xfrm>
            <a:off x="777240" y="1600200"/>
            <a:ext cx="228600" cy="457200"/>
          </a:xfrm>
          <a:prstGeom prst="rect">
            <a:avLst/>
          </a:prstGeom>
          <a:noFill/>
        </p:spPr>
        <p:txBody>
          <a:bodyPr wrap="square" lIns="27432" rIns="27432" tIns="18288" bIns="18288">
            <a:spAutoFit/>
          </a:bodyPr>
          <a:lstStyle/>
          <a:p>
            <a:pPr>
              <a:spcAft>
                <a:spcPts val="1000"/>
              </a:spcAft>
              <a:defRPr sz="2800" b="0">
                <a:solidFill>
                  <a:srgbClr val="39779B"/>
                </a:solidFill>
                <a:latin typeface="Arial"/>
              </a:defRPr>
            </a:pPr>
            <a:r>
              <a:t>•</a:t>
            </a:r>
          </a:p>
        </p:txBody>
      </p:sp>
      <p:sp>
        <p:nvSpPr>
          <p:cNvPr id="7" name="TextBox 6"/>
          <p:cNvSpPr txBox="1"/>
          <p:nvPr/>
        </p:nvSpPr>
        <p:spPr>
          <a:xfrm>
            <a:off x="1097280" y="1600200"/>
            <a:ext cx="10287000" cy="960119"/>
          </a:xfrm>
          <a:prstGeom prst="rect">
            <a:avLst/>
          </a:prstGeom>
          <a:noFill/>
        </p:spPr>
        <p:txBody>
          <a:bodyPr wrap="square" lIns="27432" rIns="27432" tIns="18288" bIns="18288">
            <a:spAutoFit/>
          </a:bodyPr>
          <a:lstStyle/>
          <a:p>
            <a:pPr>
              <a:spcAft>
                <a:spcPts val="1000"/>
              </a:spcAft>
              <a:defRPr sz="2800" b="0">
                <a:solidFill>
                  <a:srgbClr val="202A32"/>
                </a:solidFill>
                <a:latin typeface="Arial"/>
              </a:defRPr>
            </a:pPr>
            <a:r>
              <a:t>Đã triển khai và kiểm chứng một biến thể giữ kiến thức.</a:t>
            </a:r>
          </a:p>
        </p:txBody>
      </p:sp>
      <p:sp>
        <p:nvSpPr>
          <p:cNvPr id="8" name="TextBox 7"/>
          <p:cNvSpPr txBox="1"/>
          <p:nvPr/>
        </p:nvSpPr>
        <p:spPr>
          <a:xfrm>
            <a:off x="777240" y="2651760"/>
            <a:ext cx="228600" cy="457200"/>
          </a:xfrm>
          <a:prstGeom prst="rect">
            <a:avLst/>
          </a:prstGeom>
          <a:noFill/>
        </p:spPr>
        <p:txBody>
          <a:bodyPr wrap="square" lIns="27432" rIns="27432" tIns="18288" bIns="18288">
            <a:spAutoFit/>
          </a:bodyPr>
          <a:lstStyle/>
          <a:p>
            <a:pPr>
              <a:spcAft>
                <a:spcPts val="1000"/>
              </a:spcAft>
              <a:defRPr sz="2800" b="0">
                <a:solidFill>
                  <a:srgbClr val="39779B"/>
                </a:solidFill>
                <a:latin typeface="Arial"/>
              </a:defRPr>
            </a:pPr>
            <a:r>
              <a:t>•</a:t>
            </a:r>
          </a:p>
        </p:txBody>
      </p:sp>
      <p:sp>
        <p:nvSpPr>
          <p:cNvPr id="9" name="TextBox 8"/>
          <p:cNvSpPr txBox="1"/>
          <p:nvPr/>
        </p:nvSpPr>
        <p:spPr>
          <a:xfrm>
            <a:off x="1097280" y="2651760"/>
            <a:ext cx="10287000" cy="960119"/>
          </a:xfrm>
          <a:prstGeom prst="rect">
            <a:avLst/>
          </a:prstGeom>
          <a:noFill/>
        </p:spPr>
        <p:txBody>
          <a:bodyPr wrap="square" lIns="27432" rIns="27432" tIns="18288" bIns="18288">
            <a:spAutoFit/>
          </a:bodyPr>
          <a:lstStyle/>
          <a:p>
            <a:pPr>
              <a:spcAft>
                <a:spcPts val="1000"/>
              </a:spcAft>
              <a:defRPr sz="2800" b="0">
                <a:solidFill>
                  <a:srgbClr val="202A32"/>
                </a:solidFill>
                <a:latin typeface="Arial"/>
              </a:defRPr>
            </a:pPr>
            <a:r>
              <a:t>SciFact tốt hơn TRPO đối chứng trong ba seed đã chạy.</a:t>
            </a:r>
          </a:p>
        </p:txBody>
      </p:sp>
      <p:sp>
        <p:nvSpPr>
          <p:cNvPr id="10" name="TextBox 9"/>
          <p:cNvSpPr txBox="1"/>
          <p:nvPr/>
        </p:nvSpPr>
        <p:spPr>
          <a:xfrm>
            <a:off x="777240" y="3703320"/>
            <a:ext cx="228600" cy="457200"/>
          </a:xfrm>
          <a:prstGeom prst="rect">
            <a:avLst/>
          </a:prstGeom>
          <a:noFill/>
        </p:spPr>
        <p:txBody>
          <a:bodyPr wrap="square" lIns="27432" rIns="27432" tIns="18288" bIns="18288">
            <a:spAutoFit/>
          </a:bodyPr>
          <a:lstStyle/>
          <a:p>
            <a:pPr>
              <a:spcAft>
                <a:spcPts val="1000"/>
              </a:spcAft>
              <a:defRPr sz="2800" b="0">
                <a:solidFill>
                  <a:srgbClr val="39779B"/>
                </a:solidFill>
                <a:latin typeface="Arial"/>
              </a:defRPr>
            </a:pPr>
            <a:r>
              <a:t>•</a:t>
            </a:r>
          </a:p>
        </p:txBody>
      </p:sp>
      <p:sp>
        <p:nvSpPr>
          <p:cNvPr id="11" name="TextBox 10"/>
          <p:cNvSpPr txBox="1"/>
          <p:nvPr/>
        </p:nvSpPr>
        <p:spPr>
          <a:xfrm>
            <a:off x="1097280" y="3703320"/>
            <a:ext cx="10287000" cy="960119"/>
          </a:xfrm>
          <a:prstGeom prst="rect">
            <a:avLst/>
          </a:prstGeom>
          <a:noFill/>
        </p:spPr>
        <p:txBody>
          <a:bodyPr wrap="square" lIns="27432" rIns="27432" tIns="18288" bIns="18288">
            <a:spAutoFit/>
          </a:bodyPr>
          <a:lstStyle/>
          <a:p>
            <a:pPr>
              <a:spcAft>
                <a:spcPts val="1000"/>
              </a:spcAft>
              <a:defRPr sz="2800" b="0">
                <a:solidFill>
                  <a:srgbClr val="202A32"/>
                </a:solidFill>
                <a:latin typeface="Arial"/>
              </a:defRPr>
            </a:pPr>
            <a:r>
              <a:t>Chưa vượt Contriever gốc; preference proxy còn giảm.</a:t>
            </a:r>
          </a:p>
        </p:txBody>
      </p:sp>
      <p:sp>
        <p:nvSpPr>
          <p:cNvPr id="12" name="Rectangle 11"/>
          <p:cNvSpPr/>
          <p:nvPr/>
        </p:nvSpPr>
        <p:spPr>
          <a:xfrm>
            <a:off x="731520" y="5806440"/>
            <a:ext cx="10698480" cy="475488"/>
          </a:xfrm>
          <a:prstGeom prst="rect">
            <a:avLst/>
          </a:prstGeom>
          <a:solidFill>
            <a:srgbClr val="EE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61303"/>
            <a:ext cx="10332720" cy="384048"/>
          </a:xfrm>
          <a:prstGeom prst="rect">
            <a:avLst/>
          </a:prstGeom>
          <a:noFill/>
        </p:spPr>
        <p:txBody>
          <a:bodyPr wrap="square" lIns="27432" rIns="27432" tIns="18288" bIns="18288">
            <a:spAutoFit/>
          </a:bodyPr>
          <a:lstStyle/>
          <a:p>
            <a:pPr>
              <a:spcAft>
                <a:spcPts val="1000"/>
              </a:spcAft>
              <a:defRPr sz="1800" b="1">
                <a:solidFill>
                  <a:srgbClr val="233E57"/>
                </a:solidFill>
                <a:latin typeface="Arial"/>
              </a:defRPr>
            </a:pPr>
            <a:r>
              <a:t>Kết quả có giá trị kiểm chứng, nhưng chưa phải cải tiến toàn diện TPOUR.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Hỏi đáp · Vì sao có cả reference và teacher?</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Báo cáo cập nhật · results/anchored_kaggle</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20</a:t>
            </a:r>
          </a:p>
        </p:txBody>
      </p:sp>
      <p:graphicFrame>
        <p:nvGraphicFramePr>
          <p:cNvPr id="6" name="Table 5"/>
          <p:cNvGraphicFramePr>
            <a:graphicFrameLocks noGrp="1"/>
          </p:cNvGraphicFramePr>
          <p:nvPr/>
        </p:nvGraphicFramePr>
        <p:xfrm>
          <a:off x="777240" y="1554480"/>
          <a:ext cx="10607040" cy="3840480"/>
        </p:xfrm>
        <a:graphic>
          <a:graphicData uri="http://schemas.openxmlformats.org/drawingml/2006/table">
            <a:tbl>
              <a:tblPr firstRow="1" bandRow="1">
                <a:tableStyleId>{5C22544A-7EE6-4342-B048-85BDC9FD1C3A}</a:tableStyleId>
              </a:tblPr>
              <a:tblGrid>
                <a:gridCol w="2560320"/>
                <a:gridCol w="4023360"/>
                <a:gridCol w="4023360"/>
              </a:tblGrid>
              <a:tr h="768096">
                <a:tc>
                  <a:txBody>
                    <a:bodyPr/>
                    <a:lstStyle/>
                    <a:p>
                      <a:pPr>
                        <a:defRPr sz="2300" b="1">
                          <a:solidFill>
                            <a:srgbClr val="FFFFFF"/>
                          </a:solidFill>
                          <a:latin typeface="Arial"/>
                        </a:defRPr>
                      </a:pPr>
                    </a:p>
                  </a:txBody>
                  <a:tcPr marL="109728" marT="82296">
                    <a:solidFill>
                      <a:srgbClr val="233E57"/>
                    </a:solidFill>
                  </a:tcPr>
                </a:tc>
                <a:tc>
                  <a:txBody>
                    <a:bodyPr/>
                    <a:lstStyle/>
                    <a:p>
                      <a:pPr>
                        <a:defRPr sz="2300" b="1">
                          <a:solidFill>
                            <a:srgbClr val="FFFFFF"/>
                          </a:solidFill>
                          <a:latin typeface="Arial"/>
                        </a:defRPr>
                      </a:pPr>
                      <a:r>
                        <a:t>Reference</a:t>
                      </a:r>
                    </a:p>
                  </a:txBody>
                  <a:tcPr marL="109728" marT="82296">
                    <a:solidFill>
                      <a:srgbClr val="233E57"/>
                    </a:solidFill>
                  </a:tcPr>
                </a:tc>
                <a:tc>
                  <a:txBody>
                    <a:bodyPr/>
                    <a:lstStyle/>
                    <a:p>
                      <a:pPr>
                        <a:defRPr sz="2300" b="1">
                          <a:solidFill>
                            <a:srgbClr val="FFFFFF"/>
                          </a:solidFill>
                          <a:latin typeface="Arial"/>
                        </a:defRPr>
                      </a:pPr>
                      <a:r>
                        <a:t>Teacher</a:t>
                      </a:r>
                    </a:p>
                  </a:txBody>
                  <a:tcPr marL="109728" marT="82296">
                    <a:solidFill>
                      <a:srgbClr val="233E57"/>
                    </a:solidFill>
                  </a:tcPr>
                </a:tc>
              </a:tr>
              <a:tr h="768096">
                <a:tc>
                  <a:txBody>
                    <a:bodyPr/>
                    <a:lstStyle/>
                    <a:p>
                      <a:pPr>
                        <a:defRPr sz="2300" b="0">
                          <a:solidFill>
                            <a:srgbClr val="202A32"/>
                          </a:solidFill>
                          <a:latin typeface="Arial"/>
                        </a:defRPr>
                      </a:pPr>
                      <a:r>
                        <a:t>Khởi tạo</a:t>
                      </a:r>
                    </a:p>
                  </a:txBody>
                  <a:tcPr marL="109728" marT="82296">
                    <a:solidFill>
                      <a:srgbClr val="F0F3F5"/>
                    </a:solidFill>
                  </a:tcPr>
                </a:tc>
                <a:tc>
                  <a:txBody>
                    <a:bodyPr/>
                    <a:lstStyle/>
                    <a:p>
                      <a:pPr>
                        <a:defRPr sz="2300" b="0">
                          <a:solidFill>
                            <a:srgbClr val="202A32"/>
                          </a:solidFill>
                          <a:latin typeface="Arial"/>
                        </a:defRPr>
                      </a:pPr>
                      <a:r>
                        <a:t>Từ encoder ban đầu</a:t>
                      </a:r>
                    </a:p>
                  </a:txBody>
                  <a:tcPr marL="109728" marT="82296">
                    <a:solidFill>
                      <a:srgbClr val="F0F3F5"/>
                    </a:solidFill>
                  </a:tcPr>
                </a:tc>
                <a:tc>
                  <a:txBody>
                    <a:bodyPr/>
                    <a:lstStyle/>
                    <a:p>
                      <a:pPr>
                        <a:defRPr sz="2300" b="0">
                          <a:solidFill>
                            <a:srgbClr val="202A32"/>
                          </a:solidFill>
                          <a:latin typeface="Arial"/>
                        </a:defRPr>
                      </a:pPr>
                      <a:r>
                        <a:t>Từ encoder ban đầu</a:t>
                      </a:r>
                    </a:p>
                  </a:txBody>
                  <a:tcPr marL="109728" marT="82296">
                    <a:solidFill>
                      <a:srgbClr val="F0F3F5"/>
                    </a:solidFill>
                  </a:tcPr>
                </a:tc>
              </a:tr>
              <a:tr h="768096">
                <a:tc>
                  <a:txBody>
                    <a:bodyPr/>
                    <a:lstStyle/>
                    <a:p>
                      <a:pPr>
                        <a:defRPr sz="2300" b="0">
                          <a:solidFill>
                            <a:srgbClr val="202A32"/>
                          </a:solidFill>
                          <a:latin typeface="Arial"/>
                        </a:defRPr>
                      </a:pPr>
                      <a:r>
                        <a:t>Cập nhật</a:t>
                      </a:r>
                    </a:p>
                  </a:txBody>
                  <a:tcPr marL="109728" marT="82296">
                    <a:solidFill>
                      <a:srgbClr val="FFFFFF"/>
                    </a:solidFill>
                  </a:tcPr>
                </a:tc>
                <a:tc>
                  <a:txBody>
                    <a:bodyPr/>
                    <a:lstStyle/>
                    <a:p>
                      <a:pPr>
                        <a:defRPr sz="2300" b="0">
                          <a:solidFill>
                            <a:srgbClr val="202A32"/>
                          </a:solidFill>
                          <a:latin typeface="Arial"/>
                        </a:defRPr>
                      </a:pPr>
                      <a:r>
                        <a:t>EMA theo student</a:t>
                      </a:r>
                    </a:p>
                  </a:txBody>
                  <a:tcPr marL="109728" marT="82296">
                    <a:solidFill>
                      <a:srgbClr val="FFFFFF"/>
                    </a:solidFill>
                  </a:tcPr>
                </a:tc>
                <a:tc>
                  <a:txBody>
                    <a:bodyPr/>
                    <a:lstStyle/>
                    <a:p>
                      <a:pPr>
                        <a:defRPr sz="2300" b="0">
                          <a:solidFill>
                            <a:srgbClr val="202A32"/>
                          </a:solidFill>
                          <a:latin typeface="Arial"/>
                        </a:defRPr>
                      </a:pPr>
                      <a:r>
                        <a:t>Không cập nhật</a:t>
                      </a:r>
                    </a:p>
                  </a:txBody>
                  <a:tcPr marL="109728" marT="82296">
                    <a:solidFill>
                      <a:srgbClr val="FFFFFF"/>
                    </a:solidFill>
                  </a:tcPr>
                </a:tc>
              </a:tr>
              <a:tr h="768096">
                <a:tc>
                  <a:txBody>
                    <a:bodyPr/>
                    <a:lstStyle/>
                    <a:p>
                      <a:pPr>
                        <a:defRPr sz="2300" b="0">
                          <a:solidFill>
                            <a:srgbClr val="202A32"/>
                          </a:solidFill>
                          <a:latin typeface="Arial"/>
                        </a:defRPr>
                      </a:pPr>
                      <a:r>
                        <a:t>Mục đích</a:t>
                      </a:r>
                    </a:p>
                  </a:txBody>
                  <a:tcPr marL="109728" marT="82296">
                    <a:solidFill>
                      <a:srgbClr val="F0F3F5"/>
                    </a:solidFill>
                  </a:tcPr>
                </a:tc>
                <a:tc>
                  <a:txBody>
                    <a:bodyPr/>
                    <a:lstStyle/>
                    <a:p>
                      <a:pPr>
                        <a:defRPr sz="2300" b="0">
                          <a:solidFill>
                            <a:srgbClr val="202A32"/>
                          </a:solidFill>
                          <a:latin typeface="Arial"/>
                        </a:defRPr>
                      </a:pPr>
                      <a:r>
                        <a:t>Mốc tương đối cho TRPO</a:t>
                      </a:r>
                    </a:p>
                  </a:txBody>
                  <a:tcPr marL="109728" marT="82296">
                    <a:solidFill>
                      <a:srgbClr val="F0F3F5"/>
                    </a:solidFill>
                  </a:tcPr>
                </a:tc>
                <a:tc>
                  <a:txBody>
                    <a:bodyPr/>
                    <a:lstStyle/>
                    <a:p>
                      <a:pPr>
                        <a:defRPr sz="2300" b="0">
                          <a:solidFill>
                            <a:srgbClr val="202A32"/>
                          </a:solidFill>
                          <a:latin typeface="Arial"/>
                        </a:defRPr>
                      </a:pPr>
                      <a:r>
                        <a:t>Mục tiêu giữ kiến thức</a:t>
                      </a:r>
                    </a:p>
                  </a:txBody>
                  <a:tcPr marL="109728" marT="82296">
                    <a:solidFill>
                      <a:srgbClr val="F0F3F5"/>
                    </a:solidFill>
                  </a:tcPr>
                </a:tc>
              </a:tr>
              <a:tr h="768096">
                <a:tc>
                  <a:txBody>
                    <a:bodyPr/>
                    <a:lstStyle/>
                    <a:p>
                      <a:pPr>
                        <a:defRPr sz="2300" b="0">
                          <a:solidFill>
                            <a:srgbClr val="202A32"/>
                          </a:solidFill>
                          <a:latin typeface="Arial"/>
                        </a:defRPr>
                      </a:pPr>
                      <a:r>
                        <a:t>Inference</a:t>
                      </a:r>
                    </a:p>
                  </a:txBody>
                  <a:tcPr marL="109728" marT="82296">
                    <a:solidFill>
                      <a:srgbClr val="FFFFFF"/>
                    </a:solidFill>
                  </a:tcPr>
                </a:tc>
                <a:tc>
                  <a:txBody>
                    <a:bodyPr/>
                    <a:lstStyle/>
                    <a:p>
                      <a:pPr>
                        <a:defRPr sz="2300" b="0">
                          <a:solidFill>
                            <a:srgbClr val="202A32"/>
                          </a:solidFill>
                          <a:latin typeface="Arial"/>
                        </a:defRPr>
                      </a:pPr>
                      <a:r>
                        <a:t>Không dùng</a:t>
                      </a:r>
                    </a:p>
                  </a:txBody>
                  <a:tcPr marL="109728" marT="82296">
                    <a:solidFill>
                      <a:srgbClr val="FFFFFF"/>
                    </a:solidFill>
                  </a:tcPr>
                </a:tc>
                <a:tc>
                  <a:txBody>
                    <a:bodyPr/>
                    <a:lstStyle/>
                    <a:p>
                      <a:pPr>
                        <a:defRPr sz="2300" b="0">
                          <a:solidFill>
                            <a:srgbClr val="202A32"/>
                          </a:solidFill>
                          <a:latin typeface="Arial"/>
                        </a:defRPr>
                      </a:pPr>
                      <a:r>
                        <a:t>Không dùng</a:t>
                      </a:r>
                    </a:p>
                  </a:txBody>
                  <a:tcPr marL="109728" marT="8229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Hỏi đáp · Chưa vượt baseline thì có ý nghĩa gì?</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Báo cáo cập nhật · results/anchored_kaggle</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21</a:t>
            </a:r>
          </a:p>
        </p:txBody>
      </p:sp>
      <p:sp>
        <p:nvSpPr>
          <p:cNvPr id="6" name="TextBox 5"/>
          <p:cNvSpPr txBox="1"/>
          <p:nvPr/>
        </p:nvSpPr>
        <p:spPr>
          <a:xfrm>
            <a:off x="777240" y="146304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7" name="TextBox 6"/>
          <p:cNvSpPr txBox="1"/>
          <p:nvPr/>
        </p:nvSpPr>
        <p:spPr>
          <a:xfrm>
            <a:off x="1097280" y="1463040"/>
            <a:ext cx="10287000" cy="86868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Câu hỏi đã kiểm chứng: retention có giảm suy giảm so với TRPO?</a:t>
            </a:r>
          </a:p>
        </p:txBody>
      </p:sp>
      <p:sp>
        <p:nvSpPr>
          <p:cNvPr id="8" name="TextBox 7"/>
          <p:cNvSpPr txBox="1"/>
          <p:nvPr/>
        </p:nvSpPr>
        <p:spPr>
          <a:xfrm>
            <a:off x="777240" y="242316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9" name="TextBox 8"/>
          <p:cNvSpPr txBox="1"/>
          <p:nvPr/>
        </p:nvSpPr>
        <p:spPr>
          <a:xfrm>
            <a:off x="1097280" y="2423160"/>
            <a:ext cx="10287000" cy="86868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Câu trả lời hiện tại: có trên SciFact, trong ba seed này.</a:t>
            </a:r>
          </a:p>
        </p:txBody>
      </p:sp>
      <p:sp>
        <p:nvSpPr>
          <p:cNvPr id="10" name="TextBox 9"/>
          <p:cNvSpPr txBox="1"/>
          <p:nvPr/>
        </p:nvSpPr>
        <p:spPr>
          <a:xfrm>
            <a:off x="777240" y="338328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11" name="TextBox 10"/>
          <p:cNvSpPr txBox="1"/>
          <p:nvPr/>
        </p:nvSpPr>
        <p:spPr>
          <a:xfrm>
            <a:off x="1097280" y="3383280"/>
            <a:ext cx="10287000" cy="86868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Nếu chỉ cần SciFact, chưa có căn cứ chọn thay Contriever gốc.</a:t>
            </a:r>
          </a:p>
        </p:txBody>
      </p:sp>
      <p:sp>
        <p:nvSpPr>
          <p:cNvPr id="12" name="TextBox 11"/>
          <p:cNvSpPr txBox="1"/>
          <p:nvPr/>
        </p:nvSpPr>
        <p:spPr>
          <a:xfrm>
            <a:off x="777240" y="4343400"/>
            <a:ext cx="228600" cy="457200"/>
          </a:xfrm>
          <a:prstGeom prst="rect">
            <a:avLst/>
          </a:prstGeom>
          <a:noFill/>
        </p:spPr>
        <p:txBody>
          <a:bodyPr wrap="square" lIns="27432" rIns="27432" tIns="18288" bIns="18288">
            <a:spAutoFit/>
          </a:bodyPr>
          <a:lstStyle/>
          <a:p>
            <a:pPr>
              <a:spcAft>
                <a:spcPts val="1000"/>
              </a:spcAft>
              <a:defRPr sz="2500" b="0">
                <a:solidFill>
                  <a:srgbClr val="39779B"/>
                </a:solidFill>
                <a:latin typeface="Arial"/>
              </a:defRPr>
            </a:pPr>
            <a:r>
              <a:t>•</a:t>
            </a:r>
          </a:p>
        </p:txBody>
      </p:sp>
      <p:sp>
        <p:nvSpPr>
          <p:cNvPr id="13" name="TextBox 12"/>
          <p:cNvSpPr txBox="1"/>
          <p:nvPr/>
        </p:nvSpPr>
        <p:spPr>
          <a:xfrm>
            <a:off x="1097280" y="4343400"/>
            <a:ext cx="10287000" cy="868680"/>
          </a:xfrm>
          <a:prstGeom prst="rect">
            <a:avLst/>
          </a:prstGeom>
          <a:noFill/>
        </p:spPr>
        <p:txBody>
          <a:bodyPr wrap="square" lIns="27432" rIns="27432" tIns="18288" bIns="18288">
            <a:spAutoFit/>
          </a:bodyPr>
          <a:lstStyle/>
          <a:p>
            <a:pPr>
              <a:spcAft>
                <a:spcPts val="1000"/>
              </a:spcAft>
              <a:defRPr sz="2500" b="0">
                <a:solidFill>
                  <a:srgbClr val="202A32"/>
                </a:solidFill>
                <a:latin typeface="Arial"/>
              </a:defRPr>
            </a:pPr>
            <a:r>
              <a:t>Muốn dùng cho thời gian: cần đo temporal gold và đánh đổi.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Hỏi đáp · Demo thế nào khi thuyết trình?</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live_retrieval_demo.py · notebooks/TPOUR_live_checkpoint_demo.ipynb</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22</a:t>
            </a:r>
          </a:p>
        </p:txBody>
      </p:sp>
      <p:sp>
        <p:nvSpPr>
          <p:cNvPr id="6" name="TextBox 5"/>
          <p:cNvSpPr txBox="1"/>
          <p:nvPr/>
        </p:nvSpPr>
        <p:spPr>
          <a:xfrm>
            <a:off x="777240" y="1463040"/>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7" name="TextBox 6"/>
          <p:cNvSpPr txBox="1"/>
          <p:nvPr/>
        </p:nvSpPr>
        <p:spPr>
          <a:xfrm>
            <a:off x="1097280" y="1463040"/>
            <a:ext cx="10287000" cy="77724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Mở notebook live; nạp encoder.pt và corpus SciFact.</a:t>
            </a:r>
          </a:p>
        </p:txBody>
      </p:sp>
      <p:sp>
        <p:nvSpPr>
          <p:cNvPr id="8" name="TextBox 7"/>
          <p:cNvSpPr txBox="1"/>
          <p:nvPr/>
        </p:nvSpPr>
        <p:spPr>
          <a:xfrm>
            <a:off x="777240" y="2331720"/>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9" name="TextBox 8"/>
          <p:cNvSpPr txBox="1"/>
          <p:nvPr/>
        </p:nvSpPr>
        <p:spPr>
          <a:xfrm>
            <a:off x="1097280" y="2331720"/>
            <a:ext cx="10287000" cy="77724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Chạy query 1 để đối chiếu top-k đã lưu.</a:t>
            </a:r>
          </a:p>
        </p:txBody>
      </p:sp>
      <p:sp>
        <p:nvSpPr>
          <p:cNvPr id="10" name="TextBox 9"/>
          <p:cNvSpPr txBox="1"/>
          <p:nvPr/>
        </p:nvSpPr>
        <p:spPr>
          <a:xfrm>
            <a:off x="777240" y="3200400"/>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11" name="TextBox 10"/>
          <p:cNvSpPr txBox="1"/>
          <p:nvPr/>
        </p:nvSpPr>
        <p:spPr>
          <a:xfrm>
            <a:off x="1097280" y="3200400"/>
            <a:ext cx="10287000" cy="77724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Nhập query mới; nói rõ chưa có gold để chấm độ chính xác.</a:t>
            </a:r>
          </a:p>
        </p:txBody>
      </p:sp>
      <p:sp>
        <p:nvSpPr>
          <p:cNvPr id="12" name="TextBox 11"/>
          <p:cNvSpPr txBox="1"/>
          <p:nvPr/>
        </p:nvSpPr>
        <p:spPr>
          <a:xfrm>
            <a:off x="777240" y="4069079"/>
            <a:ext cx="228600" cy="457200"/>
          </a:xfrm>
          <a:prstGeom prst="rect">
            <a:avLst/>
          </a:prstGeom>
          <a:noFill/>
        </p:spPr>
        <p:txBody>
          <a:bodyPr wrap="square" lIns="27432" rIns="27432" tIns="18288" bIns="18288">
            <a:spAutoFit/>
          </a:bodyPr>
          <a:lstStyle/>
          <a:p>
            <a:pPr>
              <a:spcAft>
                <a:spcPts val="1000"/>
              </a:spcAft>
              <a:defRPr sz="2400" b="0">
                <a:solidFill>
                  <a:srgbClr val="39779B"/>
                </a:solidFill>
                <a:latin typeface="Arial"/>
              </a:defRPr>
            </a:pPr>
            <a:r>
              <a:t>•</a:t>
            </a:r>
          </a:p>
        </p:txBody>
      </p:sp>
      <p:sp>
        <p:nvSpPr>
          <p:cNvPr id="13" name="TextBox 12"/>
          <p:cNvSpPr txBox="1"/>
          <p:nvPr/>
        </p:nvSpPr>
        <p:spPr>
          <a:xfrm>
            <a:off x="1097280" y="4069079"/>
            <a:ext cx="10287000" cy="777240"/>
          </a:xfrm>
          <a:prstGeom prst="rect">
            <a:avLst/>
          </a:prstGeom>
          <a:noFill/>
        </p:spPr>
        <p:txBody>
          <a:bodyPr wrap="square" lIns="27432" rIns="27432" tIns="18288" bIns="18288">
            <a:spAutoFit/>
          </a:bodyPr>
          <a:lstStyle/>
          <a:p>
            <a:pPr>
              <a:spcAft>
                <a:spcPts val="1000"/>
              </a:spcAft>
              <a:defRPr sz="2400" b="0">
                <a:solidFill>
                  <a:srgbClr val="202A32"/>
                </a:solidFill>
                <a:latin typeface="Arial"/>
              </a:defRPr>
            </a:pPr>
            <a:r>
              <a:t>Phương án dự phòng: replay JSON, ghi rõ kết quả đã chạy.</a:t>
            </a:r>
          </a:p>
        </p:txBody>
      </p:sp>
      <p:sp>
        <p:nvSpPr>
          <p:cNvPr id="14" name="TextBox 13"/>
          <p:cNvSpPr txBox="1"/>
          <p:nvPr/>
        </p:nvSpPr>
        <p:spPr>
          <a:xfrm>
            <a:off x="1097280" y="5486400"/>
            <a:ext cx="10058400" cy="365760"/>
          </a:xfrm>
          <a:prstGeom prst="rect">
            <a:avLst/>
          </a:prstGeom>
          <a:noFill/>
        </p:spPr>
        <p:txBody>
          <a:bodyPr wrap="square" lIns="27432" rIns="27432" tIns="18288" bIns="18288">
            <a:spAutoFit/>
          </a:bodyPr>
          <a:lstStyle/>
          <a:p>
            <a:pPr>
              <a:spcAft>
                <a:spcPts val="1000"/>
              </a:spcAft>
              <a:defRPr sz="1800" b="0">
                <a:solidFill>
                  <a:srgbClr val="59636D"/>
                </a:solidFill>
                <a:latin typeface="Arial"/>
              </a:defRPr>
            </a:pPr>
            <a:r>
              <a:t>Kaggle: vananh1911/tpour-live-checkpoint-verification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57200"/>
            <a:ext cx="73152" cy="457200"/>
          </a:xfrm>
          <a:prstGeom prst="rect">
            <a:avLst/>
          </a:prstGeom>
          <a:solidFill>
            <a:srgbClr val="233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89920" cy="777240"/>
          </a:xfrm>
          <a:prstGeom prst="rect">
            <a:avLst/>
          </a:prstGeom>
          <a:noFill/>
        </p:spPr>
        <p:txBody>
          <a:bodyPr wrap="square" lIns="27432" rIns="27432" tIns="18288" bIns="18288">
            <a:spAutoFit/>
          </a:bodyPr>
          <a:lstStyle/>
          <a:p>
            <a:pPr>
              <a:spcAft>
                <a:spcPts val="1000"/>
              </a:spcAft>
              <a:defRPr sz="2900" b="1">
                <a:solidFill>
                  <a:srgbClr val="233E57"/>
                </a:solidFill>
                <a:latin typeface="Arial"/>
              </a:defRPr>
            </a:pPr>
            <a:r>
              <a:t>Nguồn để đối chiếu</a:t>
            </a:r>
          </a:p>
        </p:txBody>
      </p:sp>
      <p:sp>
        <p:nvSpPr>
          <p:cNvPr id="4" name="TextBox 3"/>
          <p:cNvSpPr txBox="1"/>
          <p:nvPr/>
        </p:nvSpPr>
        <p:spPr>
          <a:xfrm>
            <a:off x="594360" y="6473952"/>
            <a:ext cx="10698480" cy="228600"/>
          </a:xfrm>
          <a:prstGeom prst="rect">
            <a:avLst/>
          </a:prstGeom>
          <a:noFill/>
        </p:spPr>
        <p:txBody>
          <a:bodyPr wrap="square" lIns="27432" rIns="27432" tIns="18288" bIns="18288">
            <a:spAutoFit/>
          </a:bodyPr>
          <a:lstStyle/>
          <a:p>
            <a:pPr>
              <a:spcAft>
                <a:spcPts val="1000"/>
              </a:spcAft>
              <a:defRPr sz="1000" b="0">
                <a:solidFill>
                  <a:srgbClr val="59636D"/>
                </a:solidFill>
                <a:latin typeface="Arial"/>
              </a:defRPr>
            </a:pPr>
            <a:r>
              <a:t>Tài liệu và mã nguồn của báo cáo</a:t>
            </a:r>
          </a:p>
        </p:txBody>
      </p:sp>
      <p:sp>
        <p:nvSpPr>
          <p:cNvPr id="5" name="TextBox 4"/>
          <p:cNvSpPr txBox="1"/>
          <p:nvPr/>
        </p:nvSpPr>
        <p:spPr>
          <a:xfrm>
            <a:off x="11201400" y="6437376"/>
            <a:ext cx="457200" cy="274320"/>
          </a:xfrm>
          <a:prstGeom prst="rect">
            <a:avLst/>
          </a:prstGeom>
          <a:noFill/>
        </p:spPr>
        <p:txBody>
          <a:bodyPr wrap="square" lIns="27432" rIns="27432" tIns="18288" bIns="18288">
            <a:spAutoFit/>
          </a:bodyPr>
          <a:lstStyle/>
          <a:p>
            <a:pPr>
              <a:spcAft>
                <a:spcPts val="1000"/>
              </a:spcAft>
              <a:defRPr sz="1200" b="0">
                <a:solidFill>
                  <a:srgbClr val="59636D"/>
                </a:solidFill>
                <a:latin typeface="Arial"/>
              </a:defRPr>
            </a:pPr>
            <a:r>
              <a:t>23</a:t>
            </a:r>
          </a:p>
        </p:txBody>
      </p:sp>
      <p:sp>
        <p:nvSpPr>
          <p:cNvPr id="6" name="TextBox 5"/>
          <p:cNvSpPr txBox="1"/>
          <p:nvPr/>
        </p:nvSpPr>
        <p:spPr>
          <a:xfrm>
            <a:off x="777240" y="1463040"/>
            <a:ext cx="228600" cy="457200"/>
          </a:xfrm>
          <a:prstGeom prst="rect">
            <a:avLst/>
          </a:prstGeom>
          <a:noFill/>
        </p:spPr>
        <p:txBody>
          <a:bodyPr wrap="square" lIns="27432" rIns="27432" tIns="18288" bIns="18288">
            <a:spAutoFit/>
          </a:bodyPr>
          <a:lstStyle/>
          <a:p>
            <a:pPr>
              <a:spcAft>
                <a:spcPts val="1000"/>
              </a:spcAft>
              <a:defRPr sz="2300" b="0">
                <a:solidFill>
                  <a:srgbClr val="39779B"/>
                </a:solidFill>
                <a:latin typeface="Arial"/>
              </a:defRPr>
            </a:pPr>
            <a:r>
              <a:t>•</a:t>
            </a:r>
          </a:p>
        </p:txBody>
      </p:sp>
      <p:sp>
        <p:nvSpPr>
          <p:cNvPr id="7" name="TextBox 6"/>
          <p:cNvSpPr txBox="1"/>
          <p:nvPr/>
        </p:nvSpPr>
        <p:spPr>
          <a:xfrm>
            <a:off x="1097280" y="1463040"/>
            <a:ext cx="10287000" cy="704088"/>
          </a:xfrm>
          <a:prstGeom prst="rect">
            <a:avLst/>
          </a:prstGeom>
          <a:noFill/>
        </p:spPr>
        <p:txBody>
          <a:bodyPr wrap="square" lIns="27432" rIns="27432" tIns="18288" bIns="18288">
            <a:spAutoFit/>
          </a:bodyPr>
          <a:lstStyle/>
          <a:p>
            <a:pPr>
              <a:spcAft>
                <a:spcPts val="1000"/>
              </a:spcAft>
              <a:defRPr sz="2300" b="0">
                <a:solidFill>
                  <a:srgbClr val="202A32"/>
                </a:solidFill>
                <a:latin typeface="Arial"/>
              </a:defRPr>
            </a:pPr>
            <a:r>
              <a:t>Bài TPOUR: upstream/TPOUR/ICML_2026_TPOUR.pdf</a:t>
            </a:r>
          </a:p>
        </p:txBody>
      </p:sp>
      <p:sp>
        <p:nvSpPr>
          <p:cNvPr id="8" name="TextBox 7"/>
          <p:cNvSpPr txBox="1"/>
          <p:nvPr/>
        </p:nvSpPr>
        <p:spPr>
          <a:xfrm>
            <a:off x="777240" y="2258568"/>
            <a:ext cx="228600" cy="457200"/>
          </a:xfrm>
          <a:prstGeom prst="rect">
            <a:avLst/>
          </a:prstGeom>
          <a:noFill/>
        </p:spPr>
        <p:txBody>
          <a:bodyPr wrap="square" lIns="27432" rIns="27432" tIns="18288" bIns="18288">
            <a:spAutoFit/>
          </a:bodyPr>
          <a:lstStyle/>
          <a:p>
            <a:pPr>
              <a:spcAft>
                <a:spcPts val="1000"/>
              </a:spcAft>
              <a:defRPr sz="2300" b="0">
                <a:solidFill>
                  <a:srgbClr val="39779B"/>
                </a:solidFill>
                <a:latin typeface="Arial"/>
              </a:defRPr>
            </a:pPr>
            <a:r>
              <a:t>•</a:t>
            </a:r>
          </a:p>
        </p:txBody>
      </p:sp>
      <p:sp>
        <p:nvSpPr>
          <p:cNvPr id="9" name="TextBox 8"/>
          <p:cNvSpPr txBox="1"/>
          <p:nvPr/>
        </p:nvSpPr>
        <p:spPr>
          <a:xfrm>
            <a:off x="1097280" y="2258568"/>
            <a:ext cx="10287000" cy="704088"/>
          </a:xfrm>
          <a:prstGeom prst="rect">
            <a:avLst/>
          </a:prstGeom>
          <a:noFill/>
        </p:spPr>
        <p:txBody>
          <a:bodyPr wrap="square" lIns="27432" rIns="27432" tIns="18288" bIns="18288">
            <a:spAutoFit/>
          </a:bodyPr>
          <a:lstStyle/>
          <a:p>
            <a:pPr>
              <a:spcAft>
                <a:spcPts val="1000"/>
              </a:spcAft>
              <a:defRPr sz="2300" b="0">
                <a:solidFill>
                  <a:srgbClr val="202A32"/>
                </a:solidFill>
                <a:latin typeface="Arial"/>
              </a:defRPr>
            </a:pPr>
            <a:r>
              <a:t>Code: tpour.py, real_experiment.py, anchored_tpour.py</a:t>
            </a:r>
          </a:p>
        </p:txBody>
      </p:sp>
      <p:sp>
        <p:nvSpPr>
          <p:cNvPr id="10" name="TextBox 9"/>
          <p:cNvSpPr txBox="1"/>
          <p:nvPr/>
        </p:nvSpPr>
        <p:spPr>
          <a:xfrm>
            <a:off x="777240" y="3054096"/>
            <a:ext cx="228600" cy="457200"/>
          </a:xfrm>
          <a:prstGeom prst="rect">
            <a:avLst/>
          </a:prstGeom>
          <a:noFill/>
        </p:spPr>
        <p:txBody>
          <a:bodyPr wrap="square" lIns="27432" rIns="27432" tIns="18288" bIns="18288">
            <a:spAutoFit/>
          </a:bodyPr>
          <a:lstStyle/>
          <a:p>
            <a:pPr>
              <a:spcAft>
                <a:spcPts val="1000"/>
              </a:spcAft>
              <a:defRPr sz="2300" b="0">
                <a:solidFill>
                  <a:srgbClr val="39779B"/>
                </a:solidFill>
                <a:latin typeface="Arial"/>
              </a:defRPr>
            </a:pPr>
            <a:r>
              <a:t>•</a:t>
            </a:r>
          </a:p>
        </p:txBody>
      </p:sp>
      <p:sp>
        <p:nvSpPr>
          <p:cNvPr id="11" name="TextBox 10"/>
          <p:cNvSpPr txBox="1"/>
          <p:nvPr/>
        </p:nvSpPr>
        <p:spPr>
          <a:xfrm>
            <a:off x="1097280" y="3054096"/>
            <a:ext cx="10287000" cy="704088"/>
          </a:xfrm>
          <a:prstGeom prst="rect">
            <a:avLst/>
          </a:prstGeom>
          <a:noFill/>
        </p:spPr>
        <p:txBody>
          <a:bodyPr wrap="square" lIns="27432" rIns="27432" tIns="18288" bIns="18288">
            <a:spAutoFit/>
          </a:bodyPr>
          <a:lstStyle/>
          <a:p>
            <a:pPr>
              <a:spcAft>
                <a:spcPts val="1000"/>
              </a:spcAft>
              <a:defRPr sz="2300" b="0">
                <a:solidFill>
                  <a:srgbClr val="202A32"/>
                </a:solidFill>
                <a:latin typeface="Arial"/>
              </a:defRPr>
            </a:pPr>
            <a:r>
              <a:t>Kết quả: results/anchored_kaggle/</a:t>
            </a:r>
          </a:p>
        </p:txBody>
      </p:sp>
      <p:sp>
        <p:nvSpPr>
          <p:cNvPr id="12" name="TextBox 11"/>
          <p:cNvSpPr txBox="1"/>
          <p:nvPr/>
        </p:nvSpPr>
        <p:spPr>
          <a:xfrm>
            <a:off x="777240" y="3849624"/>
            <a:ext cx="228600" cy="457200"/>
          </a:xfrm>
          <a:prstGeom prst="rect">
            <a:avLst/>
          </a:prstGeom>
          <a:noFill/>
        </p:spPr>
        <p:txBody>
          <a:bodyPr wrap="square" lIns="27432" rIns="27432" tIns="18288" bIns="18288">
            <a:spAutoFit/>
          </a:bodyPr>
          <a:lstStyle/>
          <a:p>
            <a:pPr>
              <a:spcAft>
                <a:spcPts val="1000"/>
              </a:spcAft>
              <a:defRPr sz="2300" b="0">
                <a:solidFill>
                  <a:srgbClr val="39779B"/>
                </a:solidFill>
                <a:latin typeface="Arial"/>
              </a:defRPr>
            </a:pPr>
            <a:r>
              <a:t>•</a:t>
            </a:r>
          </a:p>
        </p:txBody>
      </p:sp>
      <p:sp>
        <p:nvSpPr>
          <p:cNvPr id="13" name="TextBox 12"/>
          <p:cNvSpPr txBox="1"/>
          <p:nvPr/>
        </p:nvSpPr>
        <p:spPr>
          <a:xfrm>
            <a:off x="1097280" y="3849624"/>
            <a:ext cx="10287000" cy="704088"/>
          </a:xfrm>
          <a:prstGeom prst="rect">
            <a:avLst/>
          </a:prstGeom>
          <a:noFill/>
        </p:spPr>
        <p:txBody>
          <a:bodyPr wrap="square" lIns="27432" rIns="27432" tIns="18288" bIns="18288">
            <a:spAutoFit/>
          </a:bodyPr>
          <a:lstStyle/>
          <a:p>
            <a:pPr>
              <a:spcAft>
                <a:spcPts val="1000"/>
              </a:spcAft>
              <a:defRPr sz="2300" b="0">
                <a:solidFill>
                  <a:srgbClr val="202A32"/>
                </a:solidFill>
                <a:latin typeface="Arial"/>
              </a:defRPr>
            </a:pPr>
            <a:r>
              <a:t>Báo cáo: reports/revised_main/</a:t>
            </a:r>
          </a:p>
        </p:txBody>
      </p:sp>
      <p:sp>
        <p:nvSpPr>
          <p:cNvPr id="14" name="TextBox 13"/>
          <p:cNvSpPr txBox="1"/>
          <p:nvPr/>
        </p:nvSpPr>
        <p:spPr>
          <a:xfrm>
            <a:off x="1097280" y="5120640"/>
            <a:ext cx="10058400" cy="457200"/>
          </a:xfrm>
          <a:prstGeom prst="rect">
            <a:avLst/>
          </a:prstGeom>
          <a:noFill/>
        </p:spPr>
        <p:txBody>
          <a:bodyPr wrap="square" lIns="27432" rIns="27432" tIns="18288" bIns="18288">
            <a:spAutoFit/>
          </a:bodyPr>
          <a:lstStyle/>
          <a:p>
            <a:pPr>
              <a:spcAft>
                <a:spcPts val="1000"/>
              </a:spcAft>
              <a:defRPr sz="2200" b="1">
                <a:solidFill>
                  <a:srgbClr val="233E57"/>
                </a:solidFill>
                <a:latin typeface="Arial"/>
              </a:defRPr>
            </a:pPr>
            <a:r>
              <a:t>github.com/lequangduccode/tpour-trpo-experiments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