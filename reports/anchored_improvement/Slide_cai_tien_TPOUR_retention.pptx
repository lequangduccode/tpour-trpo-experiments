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43842"/>
                </a:solidFill>
              </a:defRPr>
            </a:pPr>
            <a:r>
              <a:t>Vì sao cần cải tiến?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300"/>
            </a:pPr>
            <a:r>
              <a:t>Fine-tune Wikipedia nhỏ làm giảm SciFact so với Contriever gốc.</a:t>
            </a:r>
          </a:p>
          <a:p>
            <a:pPr>
              <a:spcAft>
                <a:spcPts val="2200"/>
              </a:spcAft>
              <a:defRPr sz="2300"/>
            </a:pPr>
            <a:r>
              <a:t>Giả thuyết: thêm teacher cố định để hạn chế drift.</a:t>
            </a:r>
          </a:p>
          <a:p>
            <a:pPr>
              <a:spcAft>
                <a:spcPts val="2200"/>
              </a:spcAft>
              <a:defRPr sz="2300"/>
            </a:pPr>
            <a:r>
              <a:t>Đây là biến thể nhóm kiểm chứng; KD là kỹ thuật đã có.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43842"/>
                </a:solidFill>
              </a:defRPr>
            </a:pPr>
            <a:r>
              <a:t>Thêm gì vào TPOUR?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300"/>
            </a:pPr>
            <a:r>
              <a:t>Giữ CE + TRPO, reference momentum và queue.</a:t>
            </a:r>
          </a:p>
          <a:p>
            <a:pPr>
              <a:spcAft>
                <a:spcPts val="2200"/>
              </a:spcAft>
              <a:defRPr sz="2300"/>
            </a:pPr>
            <a:r>
              <a:t>Thêm KL trên xếp hạng + relative embedding MSE.</a:t>
            </a:r>
          </a:p>
          <a:p>
            <a:pPr>
              <a:spcAft>
                <a:spcPts val="2200"/>
              </a:spcAft>
              <a:defRPr sz="2300"/>
            </a:pPr>
            <a:r>
              <a:t>Teacher đóng băng; inference chỉ dùng student.</a:t>
            </a:r>
          </a:p>
          <a:p>
            <a:pPr>
              <a:spcAft>
                <a:spcPts val="2200"/>
              </a:spcAft>
              <a:defRPr sz="2300"/>
            </a:pPr>
            <a:r>
              <a:t>γ=10, η=1, temperature=0,1; cố định trước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43842"/>
                </a:solidFill>
              </a:defRPr>
            </a:pPr>
            <a:r>
              <a:t>Kiểm chứng công bằng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300"/>
            </a:pPr>
            <a:r>
              <a:t>TRPO và anchored: seed 42/43/44, 1.000 bước mỗi nhánh.</a:t>
            </a:r>
          </a:p>
          <a:p>
            <a:pPr>
              <a:spcAft>
                <a:spcPts val="2200"/>
              </a:spcAft>
              <a:defRPr sz="2300"/>
            </a:pPr>
            <a:r>
              <a:t>Cùng dữ liệu, learning rate, batch và cách đánh giá.</a:t>
            </a:r>
          </a:p>
          <a:p>
            <a:pPr>
              <a:spcAft>
                <a:spcPts val="2200"/>
              </a:spcAft>
              <a:defRPr sz="2300"/>
            </a:pPr>
            <a:r>
              <a:t>Đủ 300 truy vấn SciFact; thêm ablation chỉ KL ở seed42.</a:t>
            </a:r>
          </a:p>
          <a:p>
            <a:pPr>
              <a:spcAft>
                <a:spcPts val="2200"/>
              </a:spcAft>
              <a:defRPr sz="2300"/>
            </a:pPr>
            <a:r>
              <a:t>Báo mean/SD, CI, số cập nhật thực và chi phí.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43842"/>
                </a:solidFill>
              </a:defRPr>
            </a:pPr>
            <a:r>
              <a:t>Kết quả toàn bộ SciFact</a:t>
            </a:r>
          </a:p>
        </p:txBody>
      </p:sp>
      <p:pic>
        <p:nvPicPr>
          <p:cNvPr id="3" name="Picture 2" descr="01_full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34440"/>
            <a:ext cx="9784080" cy="5503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43842"/>
                </a:solidFill>
              </a:defRPr>
            </a:pPr>
            <a:r>
              <a:t>Demo: cùng query, hai mô hình</a:t>
            </a:r>
          </a:p>
        </p:txBody>
      </p:sp>
      <p:pic>
        <p:nvPicPr>
          <p:cNvPr id="3" name="Picture 2" descr="03_rankin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34440"/>
            <a:ext cx="9784080" cy="45157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43842"/>
                </a:solidFill>
              </a:defRPr>
            </a:pPr>
            <a:r>
              <a:t>Ví dụ chọn vì cải thiện lớn nhất — seed42</a:t>
            </a:r>
          </a:p>
        </p:txBody>
      </p:sp>
      <p:pic>
        <p:nvPicPr>
          <p:cNvPr id="3" name="Picture 2" descr="04_rankin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34440"/>
            <a:ext cx="9784080" cy="45157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43842"/>
                </a:solidFill>
              </a:defRPr>
            </a:pPr>
            <a:r>
              <a:t>Ví dụ chọn vì giảm nhiều nhất — seed42</a:t>
            </a:r>
          </a:p>
        </p:txBody>
      </p:sp>
      <p:pic>
        <p:nvPicPr>
          <p:cNvPr id="3" name="Picture 2" descr="05_rankin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34440"/>
            <a:ext cx="9784080" cy="4515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43842"/>
                </a:solidFill>
              </a:defRPr>
            </a:pPr>
            <a:r>
              <a:t>Kết luận và giới hạn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300"/>
            </a:pPr>
            <a:r>
              <a:t>Mean nDCG@10: TRPO 0.6003; anchored 0.6291.</a:t>
            </a:r>
          </a:p>
          <a:p>
            <a:pPr>
              <a:spcAft>
                <a:spcPts val="2200"/>
              </a:spcAft>
              <a:defRPr sz="2300"/>
            </a:pPr>
            <a:r>
              <a:t>Chênh lệch với Contriever gốc: -0.0103.</a:t>
            </a:r>
          </a:p>
          <a:p>
            <a:pPr>
              <a:spcAft>
                <a:spcPts val="2200"/>
              </a:spcAft>
              <a:defRPr sz="2300"/>
            </a:pPr>
            <a:r>
              <a:t>Preference accuracy giảm: 0.4491 → 0.4291; chưa chứng minh temporal gain.</a:t>
            </a:r>
          </a:p>
          <a:p>
            <a:pPr>
              <a:spcAft>
                <a:spcPts val="2200"/>
              </a:spcAft>
              <a:defRPr sz="2300"/>
            </a:pPr>
            <a:r>
              <a:t>MSE riêng: CI chứa 0; cần kiểm chứng thêm.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